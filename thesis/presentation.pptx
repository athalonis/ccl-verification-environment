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68" r:id="rId5"/>
    <p:sldId id="289" r:id="rId6"/>
    <p:sldId id="269" r:id="rId7"/>
    <p:sldId id="259" r:id="rId8"/>
    <p:sldId id="270" r:id="rId9"/>
    <p:sldId id="273" r:id="rId10"/>
    <p:sldId id="271" r:id="rId11"/>
    <p:sldId id="261" r:id="rId12"/>
    <p:sldId id="276" r:id="rId13"/>
    <p:sldId id="293" r:id="rId14"/>
    <p:sldId id="294" r:id="rId15"/>
    <p:sldId id="284" r:id="rId16"/>
    <p:sldId id="287" r:id="rId17"/>
    <p:sldId id="288" r:id="rId18"/>
    <p:sldId id="275" r:id="rId19"/>
    <p:sldId id="277" r:id="rId20"/>
    <p:sldId id="291" r:id="rId21"/>
    <p:sldId id="280" r:id="rId22"/>
    <p:sldId id="267" r:id="rId23"/>
    <p:sldId id="283" r:id="rId24"/>
    <p:sldId id="262" r:id="rId25"/>
    <p:sldId id="266" r:id="rId26"/>
    <p:sldId id="265" r:id="rId27"/>
    <p:sldId id="290" r:id="rId28"/>
    <p:sldId id="281" r:id="rId29"/>
    <p:sldId id="282" r:id="rId30"/>
    <p:sldId id="272" r:id="rId31"/>
    <p:sldId id="278" r:id="rId32"/>
    <p:sldId id="279" r:id="rId33"/>
    <p:sldId id="292" r:id="rId34"/>
    <p:sldId id="274" r:id="rId35"/>
  </p:sldIdLst>
  <p:sldSz cx="9144000" cy="6858000" type="screen4x3"/>
  <p:notesSz cx="6669088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6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08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9204"/>
    <a:srgbClr val="FF9900"/>
    <a:srgbClr val="0000CC"/>
    <a:srgbClr val="0000FF"/>
    <a:srgbClr val="FFFF00"/>
    <a:srgbClr val="000099"/>
    <a:srgbClr val="CC0000"/>
    <a:srgbClr val="F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83" autoAdjust="0"/>
    <p:restoredTop sz="72134" autoAdjust="0"/>
  </p:normalViewPr>
  <p:slideViewPr>
    <p:cSldViewPr snapToGrid="0">
      <p:cViewPr varScale="1">
        <p:scale>
          <a:sx n="60" d="100"/>
          <a:sy n="60" d="100"/>
        </p:scale>
        <p:origin x="636" y="78"/>
      </p:cViewPr>
      <p:guideLst>
        <p:guide orient="horz" pos="3264"/>
        <p:guide pos="2880"/>
      </p:guideLst>
    </p:cSldViewPr>
  </p:slideViewPr>
  <p:outlineViewPr>
    <p:cViewPr>
      <p:scale>
        <a:sx n="33" d="100"/>
        <a:sy n="33" d="100"/>
      </p:scale>
      <p:origin x="0" y="-134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518"/>
    </p:cViewPr>
  </p:sorterViewPr>
  <p:notesViewPr>
    <p:cSldViewPr snapToGrid="0">
      <p:cViewPr varScale="1">
        <p:scale>
          <a:sx n="59" d="100"/>
          <a:sy n="59" d="100"/>
        </p:scale>
        <p:origin x="1632" y="78"/>
      </p:cViewPr>
      <p:guideLst>
        <p:guide orient="horz" pos="3126"/>
        <p:guide pos="2088"/>
      </p:guideLst>
    </p:cSldViewPr>
  </p:notesViewPr>
  <p:gridSpacing cx="182880" cy="1828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Different labeled areas per image over exhaustive test run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5x5 Image Size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50000"/>
                    <a:satMod val="300000"/>
                  </a:schemeClr>
                </a:gs>
                <a:gs pos="3500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numRef>
              <c:f>Tabelle1!$A$2:$A$10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Tabelle1!$B$2:$B$10</c:f>
              <c:numCache>
                <c:formatCode>0.00%</c:formatCode>
                <c:ptCount val="9"/>
                <c:pt idx="0">
                  <c:v>0.44003391265869141</c:v>
                </c:pt>
                <c:pt idx="1">
                  <c:v>0.33459413051605225</c:v>
                </c:pt>
                <c:pt idx="2">
                  <c:v>0.16479384899139404</c:v>
                </c:pt>
                <c:pt idx="3">
                  <c:v>5.0898730754852295E-2</c:v>
                </c:pt>
                <c:pt idx="4">
                  <c:v>8.6738467216491699E-3</c:v>
                </c:pt>
                <c:pt idx="5">
                  <c:v>9.3734264373779297E-4</c:v>
                </c:pt>
                <c:pt idx="6">
                  <c:v>6.5684318542480469E-5</c:v>
                </c:pt>
                <c:pt idx="7">
                  <c:v>2.4139881134033203E-6</c:v>
                </c:pt>
                <c:pt idx="8">
                  <c:v>2.9802322387695313E-8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6x5 Image Size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Tabelle1!$C$2:$C$10</c:f>
              <c:numCache>
                <c:formatCode>0.00%</c:formatCode>
                <c:ptCount val="9"/>
                <c:pt idx="0">
                  <c:v>0.38992598559707403</c:v>
                </c:pt>
                <c:pt idx="1">
                  <c:v>0.33915442600846291</c:v>
                </c:pt>
                <c:pt idx="2">
                  <c:v>0.18446224555373192</c:v>
                </c:pt>
                <c:pt idx="3">
                  <c:v>6.7381156608462334E-2</c:v>
                </c:pt>
                <c:pt idx="4">
                  <c:v>1.6287120059132576E-2</c:v>
                </c:pt>
                <c:pt idx="5">
                  <c:v>2.5272704660892487E-3</c:v>
                </c:pt>
                <c:pt idx="6">
                  <c:v>2.4778768420219421E-4</c:v>
                </c:pt>
                <c:pt idx="7">
                  <c:v>1.3687647879123688E-5</c:v>
                </c:pt>
                <c:pt idx="8">
                  <c:v>3.1944364309310913E-7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6x6 Image Size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numRef>
              <c:f>Tabelle1!$A$2:$A$10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Tabelle1!$D$2:$D$10</c:f>
              <c:numCache>
                <c:formatCode>0.00%</c:formatCode>
                <c:ptCount val="9"/>
                <c:pt idx="0">
                  <c:v>0.35035413023433648</c:v>
                </c:pt>
                <c:pt idx="1">
                  <c:v>0.33775856933789328</c:v>
                </c:pt>
                <c:pt idx="2">
                  <c:v>0.19787551526678726</c:v>
                </c:pt>
                <c:pt idx="3">
                  <c:v>8.3029672008706257E-2</c:v>
                </c:pt>
                <c:pt idx="4">
                  <c:v>2.4825100816087797E-2</c:v>
                </c:pt>
                <c:pt idx="5">
                  <c:v>5.30315499054268E-3</c:v>
                </c:pt>
                <c:pt idx="6">
                  <c:v>7.7993556624278426E-4</c:v>
                </c:pt>
                <c:pt idx="7">
                  <c:v>7.1039787144400179E-5</c:v>
                </c:pt>
                <c:pt idx="8">
                  <c:v>2.8819631552323699E-6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7127864"/>
        <c:axId val="327128256"/>
      </c:barChart>
      <c:catAx>
        <c:axId val="327127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128256"/>
        <c:crosses val="autoZero"/>
        <c:auto val="1"/>
        <c:lblAlgn val="ctr"/>
        <c:lblOffset val="100"/>
        <c:noMultiLvlLbl val="0"/>
      </c:catAx>
      <c:valAx>
        <c:axId val="32712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127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FPGA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Tabelle1!$A$2:$A$8</c:f>
              <c:numCache>
                <c:formatCode>General</c:formatCode>
                <c:ptCount val="7"/>
                <c:pt idx="0">
                  <c:v>16</c:v>
                </c:pt>
                <c:pt idx="1">
                  <c:v>36</c:v>
                </c:pt>
                <c:pt idx="2">
                  <c:v>42</c:v>
                </c:pt>
                <c:pt idx="3">
                  <c:v>45</c:v>
                </c:pt>
                <c:pt idx="4">
                  <c:v>50</c:v>
                </c:pt>
                <c:pt idx="5">
                  <c:v>55</c:v>
                </c:pt>
                <c:pt idx="6">
                  <c:v>64</c:v>
                </c:pt>
              </c:numCache>
            </c:num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1.6647640791476405E-11</c:v>
                </c:pt>
                <c:pt idx="1">
                  <c:v>2.4733637747336381E-5</c:v>
                </c:pt>
                <c:pt idx="2">
                  <c:v>2.5228310502283108E-3</c:v>
                </c:pt>
                <c:pt idx="3">
                  <c:v>1.7874809741248096E-2</c:v>
                </c:pt>
                <c:pt idx="4">
                  <c:v>0.57199391171993907</c:v>
                </c:pt>
                <c:pt idx="5">
                  <c:v>18.30380517503805</c:v>
                </c:pt>
                <c:pt idx="6">
                  <c:v>9371.5482496194818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ModelSim Simulation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Tabelle1!$A$2:$A$8</c:f>
              <c:numCache>
                <c:formatCode>General</c:formatCode>
                <c:ptCount val="7"/>
                <c:pt idx="0">
                  <c:v>16</c:v>
                </c:pt>
                <c:pt idx="1">
                  <c:v>36</c:v>
                </c:pt>
                <c:pt idx="2">
                  <c:v>42</c:v>
                </c:pt>
                <c:pt idx="3">
                  <c:v>45</c:v>
                </c:pt>
                <c:pt idx="4">
                  <c:v>50</c:v>
                </c:pt>
                <c:pt idx="5">
                  <c:v>55</c:v>
                </c:pt>
                <c:pt idx="6">
                  <c:v>64</c:v>
                </c:pt>
              </c:numCache>
            </c:numRef>
          </c:cat>
          <c:val>
            <c:numRef>
              <c:f>Tabelle1!$C$2:$C$8</c:f>
              <c:numCache>
                <c:formatCode>General</c:formatCode>
                <c:ptCount val="7"/>
                <c:pt idx="0">
                  <c:v>5.7077625570776254E-5</c:v>
                </c:pt>
                <c:pt idx="1">
                  <c:v>59.850228310502281</c:v>
                </c:pt>
                <c:pt idx="2">
                  <c:v>3830.414611872146</c:v>
                </c:pt>
                <c:pt idx="3">
                  <c:v>30643.316894977168</c:v>
                </c:pt>
                <c:pt idx="4">
                  <c:v>980586.14063926938</c:v>
                </c:pt>
                <c:pt idx="5">
                  <c:v>31378756.50045662</c:v>
                </c:pt>
                <c:pt idx="6">
                  <c:v>16065923328.233789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4785680"/>
        <c:axId val="329598408"/>
      </c:lineChart>
      <c:dateAx>
        <c:axId val="284785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Image size</a:t>
                </a:r>
                <a:r>
                  <a:rPr lang="en-US" baseline="0" dirty="0" smtClean="0"/>
                  <a:t> in pixels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598408"/>
        <c:crosses val="autoZero"/>
        <c:auto val="0"/>
        <c:lblOffset val="100"/>
        <c:baseTimeUnit val="days"/>
      </c:dateAx>
      <c:valAx>
        <c:axId val="329598408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Years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E+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78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Total number of found errors in last 4 revisions</c:v>
                </c:pt>
              </c:strCache>
            </c:strRef>
          </c:tx>
          <c:spPr>
            <a:solidFill>
              <a:schemeClr val="accent6"/>
            </a:solidFill>
            <a:ln w="38100" cap="flat" cmpd="sng" algn="ctr">
              <a:solidFill>
                <a:schemeClr val="lt1"/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Tabelle1!$B$2:$B$5</c:f>
              <c:numCache>
                <c:formatCode>0.00E+00</c:formatCode>
                <c:ptCount val="4"/>
                <c:pt idx="0">
                  <c:v>840000000</c:v>
                </c:pt>
                <c:pt idx="1">
                  <c:v>4300000000</c:v>
                </c:pt>
                <c:pt idx="2">
                  <c:v>601000000</c:v>
                </c:pt>
                <c:pt idx="3" formatCode="General">
                  <c:v>0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26900488"/>
        <c:axId val="330964560"/>
      </c:barChart>
      <c:catAx>
        <c:axId val="326900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964560"/>
        <c:crosses val="autoZero"/>
        <c:auto val="1"/>
        <c:lblAlgn val="ctr"/>
        <c:lblOffset val="100"/>
        <c:noMultiLvlLbl val="0"/>
      </c:catAx>
      <c:valAx>
        <c:axId val="33096456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crossAx val="326900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 smtClean="0"/>
              <a:t>Found</a:t>
            </a:r>
            <a:r>
              <a:rPr lang="en-US" baseline="0" dirty="0" smtClean="0"/>
              <a:t> discrepancies for different image size</a:t>
            </a:r>
          </a:p>
          <a:p>
            <a:pPr>
              <a:defRPr/>
            </a:pPr>
            <a:r>
              <a:rPr lang="en-US" baseline="0" dirty="0" smtClean="0"/>
              <a:t>in %</a:t>
            </a:r>
            <a:endParaRPr lang="en-US" dirty="0"/>
          </a:p>
        </c:rich>
      </c:tx>
      <c:layout>
        <c:manualLayout>
          <c:xMode val="edge"/>
          <c:yMode val="edge"/>
          <c:x val="0.1752775988288417"/>
          <c:y val="1.49791389647126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635983656537755"/>
          <c:y val="0.17164916293559374"/>
          <c:w val="0.8531940655335003"/>
          <c:h val="0.760784428354592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Found discrepancies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50000"/>
                    <a:satMod val="300000"/>
                  </a:schemeClr>
                </a:gs>
                <a:gs pos="3500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6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Tabelle1!$A$2:$A$15</c:f>
              <c:strCache>
                <c:ptCount val="14"/>
                <c:pt idx="0">
                  <c:v>2x1</c:v>
                </c:pt>
                <c:pt idx="1">
                  <c:v>2x3</c:v>
                </c:pt>
                <c:pt idx="2">
                  <c:v>3x2</c:v>
                </c:pt>
                <c:pt idx="3">
                  <c:v>3x3</c:v>
                </c:pt>
                <c:pt idx="4">
                  <c:v>4x3</c:v>
                </c:pt>
                <c:pt idx="5">
                  <c:v>3x4</c:v>
                </c:pt>
                <c:pt idx="6">
                  <c:v>4x4</c:v>
                </c:pt>
                <c:pt idx="7">
                  <c:v>5x4</c:v>
                </c:pt>
                <c:pt idx="8">
                  <c:v>4x5</c:v>
                </c:pt>
                <c:pt idx="9">
                  <c:v>5x5</c:v>
                </c:pt>
                <c:pt idx="10">
                  <c:v>6x6</c:v>
                </c:pt>
                <c:pt idx="11">
                  <c:v>18x2</c:v>
                </c:pt>
                <c:pt idx="12">
                  <c:v>21x2</c:v>
                </c:pt>
                <c:pt idx="13">
                  <c:v>9x5</c:v>
                </c:pt>
              </c:strCache>
            </c:strRef>
          </c:cat>
          <c:val>
            <c:numRef>
              <c:f>Tabelle1!$B$2:$B$15</c:f>
              <c:numCache>
                <c:formatCode>0%</c:formatCode>
                <c:ptCount val="14"/>
                <c:pt idx="0">
                  <c:v>0</c:v>
                </c:pt>
                <c:pt idx="1">
                  <c:v>0</c:v>
                </c:pt>
                <c:pt idx="2" formatCode="0.00%">
                  <c:v>0.51</c:v>
                </c:pt>
                <c:pt idx="3">
                  <c:v>0</c:v>
                </c:pt>
                <c:pt idx="4" formatCode="0.00%">
                  <c:v>0.16500000000000001</c:v>
                </c:pt>
                <c:pt idx="5" formatCode="0.00%">
                  <c:v>0.22500000000000001</c:v>
                </c:pt>
                <c:pt idx="6" formatCode="0.00%">
                  <c:v>0.79600000000000004</c:v>
                </c:pt>
                <c:pt idx="7" formatCode="0.00%">
                  <c:v>4.0000000000000002E-4</c:v>
                </c:pt>
                <c:pt idx="8" formatCode="0.00%">
                  <c:v>5.0000000000000001E-4</c:v>
                </c:pt>
                <c:pt idx="9" formatCode="0.0000%">
                  <c:v>1.2999999999999999E-5</c:v>
                </c:pt>
                <c:pt idx="10">
                  <c:v>0</c:v>
                </c:pt>
                <c:pt idx="11" formatCode="0.00%">
                  <c:v>0.10009999999999999</c:v>
                </c:pt>
                <c:pt idx="12" formatCode="0.00%">
                  <c:v>0.12470000000000001</c:v>
                </c:pt>
                <c:pt idx="13" formatCode="0.00%">
                  <c:v>2.0000000000000001E-4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330965344"/>
        <c:axId val="330965736"/>
      </c:barChart>
      <c:catAx>
        <c:axId val="33096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965736"/>
        <c:crossesAt val="0"/>
        <c:auto val="1"/>
        <c:lblAlgn val="ctr"/>
        <c:lblOffset val="100"/>
        <c:noMultiLvlLbl val="0"/>
      </c:catAx>
      <c:valAx>
        <c:axId val="330965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96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average clocks per pixel one instance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Comparator Type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4 x 4</c:v>
                </c:pt>
                <c:pt idx="1">
                  <c:v>2 x 18</c:v>
                </c:pt>
                <c:pt idx="2">
                  <c:v>6 x 6</c:v>
                </c:pt>
                <c:pt idx="3">
                  <c:v>21 x 2</c:v>
                </c:pt>
                <c:pt idx="4">
                  <c:v>9 x 5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4.5</c:v>
                </c:pt>
                <c:pt idx="1">
                  <c:v>5.0999999999999996</c:v>
                </c:pt>
                <c:pt idx="2">
                  <c:v>3.4</c:v>
                </c:pt>
                <c:pt idx="3">
                  <c:v>4.04</c:v>
                </c:pt>
                <c:pt idx="4">
                  <c:v>3.1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Comparator Type 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4 x 4</c:v>
                </c:pt>
                <c:pt idx="1">
                  <c:v>2 x 18</c:v>
                </c:pt>
                <c:pt idx="2">
                  <c:v>6 x 6</c:v>
                </c:pt>
                <c:pt idx="3">
                  <c:v>21 x 2</c:v>
                </c:pt>
                <c:pt idx="4">
                  <c:v>9 x 5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4.4000000000000004</c:v>
                </c:pt>
                <c:pt idx="1">
                  <c:v>5</c:v>
                </c:pt>
                <c:pt idx="2">
                  <c:v>3.2</c:v>
                </c:pt>
                <c:pt idx="3">
                  <c:v>3.6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9599192"/>
        <c:axId val="329598800"/>
      </c:barChart>
      <c:catAx>
        <c:axId val="329599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598800"/>
        <c:crosses val="autoZero"/>
        <c:auto val="1"/>
        <c:lblAlgn val="ctr"/>
        <c:lblOffset val="100"/>
        <c:noMultiLvlLbl val="0"/>
      </c:catAx>
      <c:valAx>
        <c:axId val="32959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599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average clocks per pixel max instances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Comparator Type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4 x 4</c:v>
                </c:pt>
                <c:pt idx="1">
                  <c:v>2 x 18</c:v>
                </c:pt>
                <c:pt idx="2">
                  <c:v>6 x 6</c:v>
                </c:pt>
                <c:pt idx="3">
                  <c:v>21 x 2</c:v>
                </c:pt>
                <c:pt idx="4">
                  <c:v>9 x 5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4.2000000000000003E-2</c:v>
                </c:pt>
                <c:pt idx="1">
                  <c:v>5.8999999999999997E-2</c:v>
                </c:pt>
                <c:pt idx="2">
                  <c:v>3.7999999999999999E-2</c:v>
                </c:pt>
                <c:pt idx="3">
                  <c:v>5.3999999999999999E-2</c:v>
                </c:pt>
                <c:pt idx="4">
                  <c:v>4.2000000000000003E-2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Comparator Type 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4 x 4</c:v>
                </c:pt>
                <c:pt idx="1">
                  <c:v>2 x 18</c:v>
                </c:pt>
                <c:pt idx="2">
                  <c:v>6 x 6</c:v>
                </c:pt>
                <c:pt idx="3">
                  <c:v>21 x 2</c:v>
                </c:pt>
                <c:pt idx="4">
                  <c:v>9 x 5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4.7E-2</c:v>
                </c:pt>
                <c:pt idx="1">
                  <c:v>7.1999999999999995E-2</c:v>
                </c:pt>
                <c:pt idx="2">
                  <c:v>4.5999999999999999E-2</c:v>
                </c:pt>
                <c:pt idx="3">
                  <c:v>6.2E-2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0966520"/>
        <c:axId val="330968088"/>
      </c:barChart>
      <c:catAx>
        <c:axId val="330966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968088"/>
        <c:crosses val="autoZero"/>
        <c:auto val="1"/>
        <c:lblAlgn val="ctr"/>
        <c:lblOffset val="100"/>
        <c:noMultiLvlLbl val="0"/>
      </c:catAx>
      <c:valAx>
        <c:axId val="330968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966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itchFamily="18" charset="0"/>
              </a:defRPr>
            </a:lvl1pPr>
          </a:lstStyle>
          <a:p>
            <a:fld id="{84B7F90D-7C20-4F82-99B0-727E5281A3AF}" type="slidenum">
              <a:rPr lang="de-DE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412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2950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6463"/>
            <a:ext cx="4887912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die Formate des Vorlagentextes zu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18" tIns="46159" rIns="92318" bIns="4615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itchFamily="18" charset="0"/>
              </a:defRPr>
            </a:lvl1pPr>
          </a:lstStyle>
          <a:p>
            <a:fld id="{41CB41FD-334F-4C08-9522-399E9C47AA32}" type="slidenum">
              <a:rPr lang="de-DE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7939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Hello every one, my name is… I’ll present you now my thesis with the title: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3426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</a:t>
            </a:r>
            <a:r>
              <a:rPr lang="en-US" baseline="0" dirty="0" smtClean="0"/>
              <a:t> is the outline for my presentation 21…22…23 at the end you can see a demo of the implemented architecture if you are interested</a:t>
            </a:r>
          </a:p>
          <a:p>
            <a:r>
              <a:rPr lang="en-US" baseline="0" dirty="0" smtClean="0"/>
              <a:t>-&gt; Now we start with the motivation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5133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New algorithm -&gt; check correctness</a:t>
            </a:r>
          </a:p>
          <a:p>
            <a:r>
              <a:rPr lang="en-US" dirty="0" smtClean="0"/>
              <a:t>In Terms -&gt; fulfilment of </a:t>
            </a:r>
            <a:r>
              <a:rPr lang="en-US" dirty="0" smtClean="0"/>
              <a:t>specification</a:t>
            </a:r>
            <a:endParaRPr lang="en-US" dirty="0" smtClean="0"/>
          </a:p>
          <a:p>
            <a:r>
              <a:rPr lang="en-US" dirty="0" smtClean="0"/>
              <a:t>Formal verification methods not work </a:t>
            </a:r>
            <a:r>
              <a:rPr lang="en-US" dirty="0" smtClean="0"/>
              <a:t>for most 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algos</a:t>
            </a:r>
            <a:r>
              <a:rPr lang="en-US" dirty="0" smtClean="0"/>
              <a:t> </a:t>
            </a:r>
          </a:p>
          <a:p>
            <a:r>
              <a:rPr lang="en-US" dirty="0" smtClean="0"/>
              <a:t>4x4 image exhaustive ~30min</a:t>
            </a:r>
          </a:p>
          <a:p>
            <a:r>
              <a:rPr lang="en-US" dirty="0" smtClean="0"/>
              <a:t>-&gt;To</a:t>
            </a:r>
            <a:r>
              <a:rPr lang="en-US" baseline="0" dirty="0" smtClean="0"/>
              <a:t> support the developer with the testing we want to build a architecture to verify the correctness of a single pass CCL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1641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-&gt; We heard now multiple</a:t>
            </a:r>
            <a:r>
              <a:rPr lang="en-US" baseline="0" dirty="0" smtClean="0"/>
              <a:t> times about CCL. I know most of you know what this is, so I just give a brief </a:t>
            </a:r>
            <a:r>
              <a:rPr lang="en-US" baseline="0" dirty="0" err="1" smtClean="0"/>
              <a:t>explination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8603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-&gt;</a:t>
            </a:r>
            <a:r>
              <a:rPr lang="en-US" baseline="0" dirty="0" smtClean="0"/>
              <a:t> </a:t>
            </a:r>
            <a:r>
              <a:rPr lang="en-US" dirty="0" smtClean="0"/>
              <a:t>The most intuitive way to do the</a:t>
            </a:r>
            <a:r>
              <a:rPr lang="en-US" baseline="0" dirty="0" smtClean="0"/>
              <a:t> labeling for a raster scan image is a two pass ccl algorithm.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3827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is really intuitive</a:t>
            </a:r>
          </a:p>
          <a:p>
            <a:endParaRPr lang="en-US" dirty="0"/>
          </a:p>
          <a:p>
            <a:r>
              <a:rPr lang="en-US" dirty="0" smtClean="0"/>
              <a:t>-&gt; This algorithm is used for the reference</a:t>
            </a:r>
            <a:r>
              <a:rPr lang="en-US" baseline="0" dirty="0" smtClean="0"/>
              <a:t> CCL and next we will see how this is implemented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3690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Internal</a:t>
            </a:r>
            <a:r>
              <a:rPr lang="en-US" baseline="0" dirty="0" smtClean="0"/>
              <a:t> error: for ex. a </a:t>
            </a:r>
            <a:r>
              <a:rPr lang="en-US" baseline="0" dirty="0" err="1" smtClean="0"/>
              <a:t>fifo</a:t>
            </a:r>
            <a:r>
              <a:rPr lang="en-US" baseline="0" dirty="0" smtClean="0"/>
              <a:t> overflow or if more labels are required as </a:t>
            </a:r>
            <a:r>
              <a:rPr lang="en-US" baseline="0" dirty="0" smtClean="0"/>
              <a:t>expected</a:t>
            </a:r>
          </a:p>
          <a:p>
            <a:r>
              <a:rPr lang="en-US" baseline="0" dirty="0" smtClean="0"/>
              <a:t>Don’t forget the </a:t>
            </a:r>
            <a:r>
              <a:rPr lang="en-US" baseline="0" dirty="0" err="1" smtClean="0"/>
              <a:t>the</a:t>
            </a:r>
            <a:r>
              <a:rPr lang="en-US" baseline="0" dirty="0" smtClean="0"/>
              <a:t> Finite state machine</a:t>
            </a:r>
            <a:endParaRPr lang="en-US" baseline="0" dirty="0" smtClean="0"/>
          </a:p>
          <a:p>
            <a:r>
              <a:rPr lang="en-US" baseline="0" dirty="0" smtClean="0"/>
              <a:t>-&gt;FSM!!! another </a:t>
            </a:r>
            <a:r>
              <a:rPr lang="en-US" baseline="0" dirty="0" smtClean="0"/>
              <a:t>more advanced way to do the labeling is implemented by the </a:t>
            </a:r>
            <a:r>
              <a:rPr lang="en-US" baseline="0" dirty="0" err="1" smtClean="0"/>
              <a:t>dut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1622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Single</a:t>
            </a:r>
            <a:r>
              <a:rPr lang="en-US" baseline="0" dirty="0" smtClean="0"/>
              <a:t> pass, parallel, </a:t>
            </a:r>
            <a:r>
              <a:rPr lang="en-US" baseline="0" dirty="0" smtClean="0"/>
              <a:t>storage optimized implementation</a:t>
            </a:r>
            <a:endParaRPr lang="en-US" baseline="0" dirty="0" smtClean="0"/>
          </a:p>
          <a:p>
            <a:r>
              <a:rPr lang="en-US" dirty="0" smtClean="0"/>
              <a:t>Most</a:t>
            </a:r>
            <a:r>
              <a:rPr lang="en-US" baseline="0" dirty="0" smtClean="0"/>
              <a:t> of you know this approach better than I do.</a:t>
            </a:r>
          </a:p>
          <a:p>
            <a:endParaRPr lang="en-US" dirty="0"/>
          </a:p>
          <a:p>
            <a:r>
              <a:rPr lang="en-US" dirty="0" smtClean="0"/>
              <a:t>Errors of failed assertions</a:t>
            </a:r>
          </a:p>
          <a:p>
            <a:r>
              <a:rPr lang="en-US" dirty="0" smtClean="0"/>
              <a:t>-&gt;The</a:t>
            </a:r>
            <a:r>
              <a:rPr lang="en-US" baseline="0" dirty="0" smtClean="0"/>
              <a:t> last component to do the automatic exhaustive test is the comparator. It should report 4 different error types.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444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</a:p>
          <a:p>
            <a:r>
              <a:rPr lang="en-US" dirty="0" smtClean="0"/>
              <a:t>Now we have three different approaches</a:t>
            </a:r>
          </a:p>
          <a:p>
            <a:endParaRPr lang="en-US" dirty="0" smtClean="0"/>
          </a:p>
          <a:p>
            <a:r>
              <a:rPr lang="en-US" dirty="0" smtClean="0"/>
              <a:t>-&gt;Only the Type2</a:t>
            </a:r>
            <a:r>
              <a:rPr lang="en-US" baseline="0" dirty="0" smtClean="0"/>
              <a:t> and 3 has been implemented Type 3 is not explained here. Type 2 stores the left list in a </a:t>
            </a:r>
            <a:r>
              <a:rPr lang="en-US" baseline="0" dirty="0" err="1" smtClean="0"/>
              <a:t>fifo</a:t>
            </a:r>
            <a:r>
              <a:rPr lang="en-US" baseline="0" dirty="0" smtClean="0"/>
              <a:t>, since every value needs only be looked once. The right list is stored in a RAM</a:t>
            </a: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8840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ADR-CNT</a:t>
            </a:r>
          </a:p>
          <a:p>
            <a:r>
              <a:rPr lang="en-US" dirty="0" smtClean="0"/>
              <a:t>-&gt;</a:t>
            </a:r>
            <a:r>
              <a:rPr lang="en-US" baseline="0" dirty="0" smtClean="0"/>
              <a:t> Now we can put all together and the we have a automatic verifier…</a:t>
            </a: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7241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Stimgen</a:t>
            </a:r>
            <a:r>
              <a:rPr lang="en-US" dirty="0" smtClean="0"/>
              <a:t> for input</a:t>
            </a:r>
          </a:p>
          <a:p>
            <a:r>
              <a:rPr lang="en-US" dirty="0" err="1" smtClean="0"/>
              <a:t>Fifo</a:t>
            </a:r>
            <a:r>
              <a:rPr lang="en-US" dirty="0" smtClean="0"/>
              <a:t> </a:t>
            </a:r>
            <a:r>
              <a:rPr lang="en-US" dirty="0" smtClean="0"/>
              <a:t>to store the output</a:t>
            </a:r>
          </a:p>
          <a:p>
            <a:r>
              <a:rPr lang="en-US" dirty="0" smtClean="0"/>
              <a:t>2 behaviors if </a:t>
            </a:r>
            <a:r>
              <a:rPr lang="en-US" dirty="0" err="1" smtClean="0"/>
              <a:t>fifo</a:t>
            </a:r>
            <a:r>
              <a:rPr lang="en-US" dirty="0" smtClean="0"/>
              <a:t> is full:</a:t>
            </a:r>
          </a:p>
          <a:p>
            <a:pPr marL="228600" indent="-228600">
              <a:buAutoNum type="arabicPeriod"/>
            </a:pPr>
            <a:r>
              <a:rPr lang="en-US" dirty="0" err="1" smtClean="0"/>
              <a:t>dropp</a:t>
            </a:r>
            <a:r>
              <a:rPr lang="en-US" dirty="0" smtClean="0"/>
              <a:t> errors</a:t>
            </a:r>
          </a:p>
          <a:p>
            <a:pPr marL="228600" indent="-228600">
              <a:buAutoNum type="arabicPeriod"/>
            </a:pPr>
            <a:r>
              <a:rPr lang="en-US" dirty="0" smtClean="0"/>
              <a:t>Stall verifier</a:t>
            </a:r>
          </a:p>
          <a:p>
            <a:r>
              <a:rPr lang="en-US" dirty="0" smtClean="0"/>
              <a:t>COM </a:t>
            </a:r>
            <a:r>
              <a:rPr lang="en-US" dirty="0" smtClean="0"/>
              <a:t>Control sends </a:t>
            </a:r>
            <a:r>
              <a:rPr lang="en-US" dirty="0" err="1" smtClean="0"/>
              <a:t>Fifo</a:t>
            </a:r>
            <a:r>
              <a:rPr lang="en-US" dirty="0" smtClean="0"/>
              <a:t> data -&gt; UDP -&gt;IP -&gt; ETH to PC</a:t>
            </a:r>
          </a:p>
          <a:p>
            <a:r>
              <a:rPr lang="en-US" dirty="0" smtClean="0"/>
              <a:t>Set start/end stimulus</a:t>
            </a:r>
          </a:p>
          <a:p>
            <a:r>
              <a:rPr lang="en-US" dirty="0" smtClean="0"/>
              <a:t>~</a:t>
            </a:r>
            <a:r>
              <a:rPr lang="en-US" dirty="0" smtClean="0"/>
              <a:t>3% utilization of Virtex-6</a:t>
            </a:r>
          </a:p>
          <a:p>
            <a:r>
              <a:rPr lang="en-US" dirty="0" smtClean="0"/>
              <a:t>-&gt;</a:t>
            </a:r>
            <a:r>
              <a:rPr lang="en-US" baseline="0" dirty="0" smtClean="0"/>
              <a:t> </a:t>
            </a:r>
            <a:r>
              <a:rPr lang="en-US" baseline="0" dirty="0" smtClean="0"/>
              <a:t>We can use the free space to speedup the architecture by implementing more verifiers </a:t>
            </a:r>
            <a:r>
              <a:rPr lang="en-US" baseline="0" dirty="0" smtClean="0"/>
              <a:t>in parallel</a:t>
            </a: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3205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</a:t>
            </a:r>
            <a:r>
              <a:rPr lang="en-US" dirty="0" err="1" smtClean="0"/>
              <a:t>choosen</a:t>
            </a:r>
            <a:r>
              <a:rPr lang="en-US" dirty="0" smtClean="0"/>
              <a:t> the most intuitive way to speed the architecture up</a:t>
            </a:r>
          </a:p>
          <a:p>
            <a:r>
              <a:rPr lang="en-US" dirty="0" smtClean="0"/>
              <a:t>Replicating units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Utilization</a:t>
            </a:r>
            <a:r>
              <a:rPr lang="en-US" baseline="0" dirty="0" smtClean="0"/>
              <a:t> now is nearly 100% and speedup factor of ~70</a:t>
            </a:r>
          </a:p>
          <a:p>
            <a:r>
              <a:rPr lang="en-US" baseline="0" dirty="0" smtClean="0"/>
              <a:t>-&gt;Can </a:t>
            </a:r>
            <a:r>
              <a:rPr lang="en-US" baseline="0" dirty="0" smtClean="0"/>
              <a:t>we further increase the performance?</a:t>
            </a: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92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-&gt; This can be used</a:t>
            </a:r>
            <a:r>
              <a:rPr lang="en-US" baseline="0" dirty="0" smtClean="0"/>
              <a:t> to implement smaller instances to process the simple images and for the </a:t>
            </a:r>
            <a:r>
              <a:rPr lang="en-US" baseline="0" dirty="0" err="1" smtClean="0"/>
              <a:t>complexer</a:t>
            </a:r>
            <a:r>
              <a:rPr lang="en-US" baseline="0" dirty="0" smtClean="0"/>
              <a:t> images we instantiate a instances which can process every input image type.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5587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</a:t>
            </a:r>
            <a:r>
              <a:rPr lang="en-US" baseline="0" dirty="0" smtClean="0"/>
              <a:t> advanced architecture has not been implemented</a:t>
            </a:r>
          </a:p>
          <a:p>
            <a:endParaRPr lang="en-US" baseline="0" dirty="0" smtClean="0"/>
          </a:p>
          <a:p>
            <a:r>
              <a:rPr lang="en-US" baseline="0" dirty="0" smtClean="0"/>
              <a:t>-&gt; we now know how the hardware architecture looks like. Let’s now give a look on the software….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265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Before we come to the software which communicates with the HW arch</a:t>
            </a:r>
          </a:p>
          <a:p>
            <a:pPr marL="0" indent="0">
              <a:buNone/>
            </a:pPr>
            <a:r>
              <a:rPr lang="en-US" dirty="0" smtClean="0"/>
              <a:t>-&gt; </a:t>
            </a:r>
            <a:r>
              <a:rPr lang="en-US" dirty="0" smtClean="0"/>
              <a:t>Now we come to the software</a:t>
            </a:r>
            <a:r>
              <a:rPr lang="en-US" baseline="0" dirty="0" smtClean="0"/>
              <a:t> which interfaces the architecture on the FPGA…</a:t>
            </a:r>
            <a:endParaRPr lang="en-US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0392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Data Logger command</a:t>
            </a:r>
            <a:r>
              <a:rPr lang="en-US" baseline="0" dirty="0" smtClean="0"/>
              <a:t> line tool reads and stores the found errors as JSON</a:t>
            </a:r>
          </a:p>
          <a:p>
            <a:r>
              <a:rPr lang="en-US" baseline="0" dirty="0" smtClean="0"/>
              <a:t>This JSON logs can be viewed with the error inspector</a:t>
            </a:r>
          </a:p>
          <a:p>
            <a:r>
              <a:rPr lang="en-US" baseline="0" dirty="0" smtClean="0"/>
              <a:t>-&gt;Here we only can analyze error image by error image. To get a global view on the errors a visualization as a </a:t>
            </a:r>
            <a:r>
              <a:rPr lang="en-US" baseline="0" dirty="0" err="1" smtClean="0"/>
              <a:t>heatmap</a:t>
            </a:r>
            <a:r>
              <a:rPr lang="en-US" baseline="0" dirty="0" smtClean="0"/>
              <a:t> has been implemented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7502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</a:t>
            </a:r>
            <a:r>
              <a:rPr lang="en-US" baseline="0" dirty="0" smtClean="0"/>
              <a:t> can see here which pixels was involved in error images</a:t>
            </a:r>
          </a:p>
          <a:p>
            <a:r>
              <a:rPr lang="en-US" baseline="0" dirty="0" smtClean="0"/>
              <a:t>-&gt; More of the software can be seen in the demo and we go on with the </a:t>
            </a:r>
            <a:r>
              <a:rPr lang="en-US" baseline="0" dirty="0" smtClean="0"/>
              <a:t>result section.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6970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 you can see the</a:t>
            </a:r>
            <a:r>
              <a:rPr lang="en-US" baseline="0" dirty="0" smtClean="0"/>
              <a:t> runtime for exhaustive testing for different image sizes</a:t>
            </a:r>
          </a:p>
          <a:p>
            <a:r>
              <a:rPr lang="en-US" baseline="0" dirty="0" smtClean="0"/>
              <a:t>Diff CMP, CMP is as expected faster</a:t>
            </a:r>
          </a:p>
          <a:p>
            <a:r>
              <a:rPr lang="en-US" dirty="0" smtClean="0"/>
              <a:t>-&gt; This</a:t>
            </a:r>
            <a:r>
              <a:rPr lang="en-US" baseline="0" dirty="0" smtClean="0"/>
              <a:t> runtime could be reduced with the parallelization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9946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can see the maximum</a:t>
            </a:r>
            <a:r>
              <a:rPr lang="en-US" baseline="0" dirty="0" smtClean="0"/>
              <a:t> number of instances which fit into the </a:t>
            </a:r>
            <a:r>
              <a:rPr lang="en-US" baseline="0" dirty="0" err="1" smtClean="0"/>
              <a:t>fpga</a:t>
            </a:r>
            <a:endParaRPr lang="en-US" baseline="0" dirty="0" smtClean="0"/>
          </a:p>
          <a:p>
            <a:r>
              <a:rPr lang="en-US" baseline="0" dirty="0" smtClean="0"/>
              <a:t>Now the CMP2 is faster…</a:t>
            </a:r>
          </a:p>
          <a:p>
            <a:r>
              <a:rPr lang="en-US" baseline="0" dirty="0" smtClean="0"/>
              <a:t>-&gt;So we could reduce the runtime to a point where it is possible to process a 9x5 image in lesser than a week</a:t>
            </a:r>
          </a:p>
          <a:p>
            <a:endParaRPr lang="en-US" dirty="0" smtClean="0"/>
          </a:p>
          <a:p>
            <a:r>
              <a:rPr lang="en-US" dirty="0" smtClean="0"/>
              <a:t>(missing value ~8.5 days)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7353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8x8</a:t>
            </a:r>
          </a:p>
          <a:p>
            <a:r>
              <a:rPr lang="en-US" dirty="0" smtClean="0"/>
              <a:t>FPGA ~10,000 years</a:t>
            </a:r>
          </a:p>
          <a:p>
            <a:r>
              <a:rPr lang="en-US" dirty="0" smtClean="0"/>
              <a:t>Software ~16 Billion years</a:t>
            </a:r>
          </a:p>
          <a:p>
            <a:r>
              <a:rPr lang="en-US" dirty="0" smtClean="0"/>
              <a:t>Started at the big bang</a:t>
            </a:r>
          </a:p>
          <a:p>
            <a:r>
              <a:rPr lang="en-US" dirty="0" smtClean="0"/>
              <a:t>It will be done in ~2 Billion years</a:t>
            </a:r>
          </a:p>
          <a:p>
            <a:r>
              <a:rPr lang="en-US" dirty="0" smtClean="0"/>
              <a:t>Universe ~14 Billion years</a:t>
            </a:r>
          </a:p>
          <a:p>
            <a:r>
              <a:rPr lang="en-US" dirty="0" smtClean="0"/>
              <a:t>To reduce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fpga</a:t>
            </a:r>
            <a:r>
              <a:rPr lang="en-US" baseline="0" dirty="0" smtClean="0"/>
              <a:t> runtime to ~1day -&gt; ~4 million FPGA required</a:t>
            </a:r>
          </a:p>
          <a:p>
            <a:r>
              <a:rPr lang="en-US" baseline="0" dirty="0" smtClean="0"/>
              <a:t>-&gt; Now let’s see how many errors are found in the DUT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2476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More than 12 revisions of the DUT has been tested</a:t>
            </a:r>
          </a:p>
          <a:p>
            <a:r>
              <a:rPr lang="en-US" dirty="0" smtClean="0"/>
              <a:t>2 we introduced the reporting of internal errors</a:t>
            </a:r>
          </a:p>
          <a:p>
            <a:r>
              <a:rPr lang="en-US" dirty="0" smtClean="0"/>
              <a:t>-&gt; we also tested different image sizes a overview…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21171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… of the found errors can be found in this chart</a:t>
            </a:r>
          </a:p>
          <a:p>
            <a:r>
              <a:rPr lang="en-US" dirty="0" smtClean="0"/>
              <a:t>Problem</a:t>
            </a:r>
            <a:r>
              <a:rPr lang="en-US" baseline="0" dirty="0" smtClean="0"/>
              <a:t> with sizes 2 to the power of…</a:t>
            </a:r>
          </a:p>
          <a:p>
            <a:r>
              <a:rPr lang="en-US" baseline="0" dirty="0" smtClean="0"/>
              <a:t>-&gt; also a image size of 63x61 has been tested…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0463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… but not in a exhaustive way.</a:t>
            </a:r>
          </a:p>
          <a:p>
            <a:r>
              <a:rPr lang="en-US" dirty="0" smtClean="0"/>
              <a:t>Test</a:t>
            </a:r>
            <a:r>
              <a:rPr lang="en-US" baseline="0" dirty="0" smtClean="0"/>
              <a:t> run in Software</a:t>
            </a:r>
          </a:p>
          <a:p>
            <a:r>
              <a:rPr lang="en-US" baseline="0" dirty="0" smtClean="0"/>
              <a:t>-&gt;Now we come to the conclusion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3822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800</a:t>
            </a:r>
            <a:r>
              <a:rPr lang="en-US" baseline="0" dirty="0" smtClean="0"/>
              <a:t> </a:t>
            </a:r>
            <a:r>
              <a:rPr lang="en-US" baseline="0" smtClean="0"/>
              <a:t>million errors</a:t>
            </a:r>
            <a:endParaRPr lang="en-US" smtClean="0"/>
          </a:p>
          <a:p>
            <a:r>
              <a:rPr lang="en-US" dirty="0" smtClean="0"/>
              <a:t>-&gt; before I end a short outlook what can be done on</a:t>
            </a:r>
            <a:r>
              <a:rPr lang="en-US" baseline="0" dirty="0" smtClean="0"/>
              <a:t> this topic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15042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6216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468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B41FD-334F-4C08-9522-399E9C47AA32}" type="slidenum">
              <a:rPr lang="de-DE" smtClean="0"/>
              <a:pPr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1277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533400" y="828675"/>
            <a:ext cx="8077200" cy="4603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50000">
                <a:srgbClr val="3333CC">
                  <a:gamma/>
                  <a:shade val="59608"/>
                  <a:invGamma/>
                </a:srgbClr>
              </a:gs>
              <a:gs pos="100000">
                <a:srgbClr val="3333CC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533400" y="6238875"/>
            <a:ext cx="8077200" cy="17463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50000">
                <a:srgbClr val="3333CC">
                  <a:gamma/>
                  <a:shade val="59608"/>
                  <a:invGamma/>
                </a:srgbClr>
              </a:gs>
              <a:gs pos="100000">
                <a:srgbClr val="3333CC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319" y="73788"/>
            <a:ext cx="725156" cy="72515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12" y="69653"/>
            <a:ext cx="3222553" cy="725156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0F8D14-2C29-4CDF-B379-09061E9077E7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extfeld 9"/>
          <p:cNvSpPr txBox="1"/>
          <p:nvPr userDrawn="1"/>
        </p:nvSpPr>
        <p:spPr>
          <a:xfrm>
            <a:off x="533400" y="6285471"/>
            <a:ext cx="253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Benjamin</a:t>
            </a:r>
            <a:r>
              <a:rPr lang="de-DE" baseline="0" dirty="0" smtClean="0"/>
              <a:t> Bässler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noProof="0" dirty="0" err="1" smtClean="0"/>
              <a:t>Titelmasterformat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 err="1" smtClean="0"/>
              <a:t>Textmasterformat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/>
          </a:p>
        </p:txBody>
      </p:sp>
      <p:sp>
        <p:nvSpPr>
          <p:cNvPr id="6" name="Textfeld 5"/>
          <p:cNvSpPr txBox="1"/>
          <p:nvPr userDrawn="1"/>
        </p:nvSpPr>
        <p:spPr>
          <a:xfrm>
            <a:off x="533400" y="6285471"/>
            <a:ext cx="253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Benjamin</a:t>
            </a:r>
            <a:r>
              <a:rPr lang="en-US" baseline="0" dirty="0" smtClean="0"/>
              <a:t> Bässler</a:t>
            </a:r>
            <a:endParaRPr lang="en-US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7941722" y="6285471"/>
            <a:ext cx="66886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7D42AEE-E7DB-42CB-B190-CE637B6CF2F8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19657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, um das </a:t>
            </a:r>
            <a:r>
              <a:rPr lang="en-US" noProof="0" dirty="0" err="1" smtClean="0"/>
              <a:t>Titelformat</a:t>
            </a:r>
            <a:endParaRPr lang="en-US" noProof="0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55700"/>
            <a:ext cx="77724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, um die </a:t>
            </a:r>
            <a:r>
              <a:rPr lang="en-US" noProof="0" dirty="0" err="1" smtClean="0"/>
              <a:t>Formate</a:t>
            </a:r>
            <a:r>
              <a:rPr lang="en-US" noProof="0" dirty="0" smtClean="0"/>
              <a:t> des </a:t>
            </a:r>
            <a:r>
              <a:rPr lang="en-US" noProof="0" dirty="0" err="1" smtClean="0"/>
              <a:t>Vorlagentextes</a:t>
            </a:r>
            <a:r>
              <a:rPr lang="en-US" noProof="0" dirty="0" smtClean="0"/>
              <a:t> </a:t>
            </a:r>
            <a:r>
              <a:rPr lang="en-US" noProof="0" dirty="0" err="1" smtClean="0"/>
              <a:t>zu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68339" y="6324600"/>
            <a:ext cx="197932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r>
              <a:rPr lang="de-DE" dirty="0" smtClean="0"/>
              <a:t>Benjamin Bässler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fld id="{7E0F8D14-2C29-4CDF-B379-09061E9077E7}" type="slidenum">
              <a:rPr lang="de-DE"/>
              <a:pPr/>
              <a:t>‹Nr.›</a:t>
            </a:fld>
            <a:endParaRPr lang="de-DE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533400" y="828675"/>
            <a:ext cx="8077200" cy="4603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50000">
                <a:srgbClr val="3333CC">
                  <a:gamma/>
                  <a:shade val="59608"/>
                  <a:invGamma/>
                </a:srgbClr>
              </a:gs>
              <a:gs pos="100000">
                <a:srgbClr val="3333CC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533400" y="6238875"/>
            <a:ext cx="8077200" cy="17463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50000">
                <a:srgbClr val="3333CC">
                  <a:gamma/>
                  <a:shade val="59608"/>
                  <a:invGamma/>
                </a:srgbClr>
              </a:gs>
              <a:gs pos="100000">
                <a:srgbClr val="3333CC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19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649186"/>
            <a:ext cx="7772400" cy="1779814"/>
          </a:xfrm>
        </p:spPr>
        <p:txBody>
          <a:bodyPr/>
          <a:lstStyle/>
          <a:p>
            <a:r>
              <a:rPr lang="en-US" dirty="0" smtClean="0"/>
              <a:t>Implementation </a:t>
            </a:r>
            <a:r>
              <a:rPr lang="en-US" dirty="0"/>
              <a:t>and Hardware Accelerated Verification of a Connected Component Labeling Architecture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 smtClean="0"/>
              <a:t>Diploma Thesis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2343150" y="4457700"/>
            <a:ext cx="44577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Examiner</a:t>
            </a:r>
            <a:r>
              <a:rPr lang="en-US" dirty="0" smtClean="0"/>
              <a:t>:	Prof</a:t>
            </a:r>
            <a:r>
              <a:rPr lang="en-US" dirty="0"/>
              <a:t>. Dr.-</a:t>
            </a:r>
            <a:r>
              <a:rPr lang="en-US" dirty="0" err="1"/>
              <a:t>Ing</a:t>
            </a:r>
            <a:r>
              <a:rPr lang="en-US" dirty="0"/>
              <a:t>. S. Simon</a:t>
            </a:r>
          </a:p>
          <a:p>
            <a:r>
              <a:rPr lang="de-DE" dirty="0"/>
              <a:t>Supervisor</a:t>
            </a:r>
            <a:r>
              <a:rPr lang="de-DE" dirty="0" smtClean="0"/>
              <a:t>:	</a:t>
            </a:r>
            <a:r>
              <a:rPr lang="en-US" dirty="0" smtClean="0"/>
              <a:t>M</a:t>
            </a:r>
            <a:r>
              <a:rPr lang="en-US" dirty="0"/>
              <a:t>. Sc. Yousef </a:t>
            </a:r>
            <a:r>
              <a:rPr lang="en-US" dirty="0" err="1"/>
              <a:t>Baroud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1773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</a:p>
          <a:p>
            <a:r>
              <a:rPr lang="en-US" dirty="0" smtClean="0"/>
              <a:t>Goals</a:t>
            </a:r>
          </a:p>
          <a:p>
            <a:r>
              <a:rPr lang="en-US" dirty="0" smtClean="0"/>
              <a:t>Proposed Design</a:t>
            </a:r>
          </a:p>
          <a:p>
            <a:pPr lvl="1"/>
            <a:r>
              <a:rPr lang="en-US" dirty="0" smtClean="0"/>
              <a:t>CCL Reference implementation</a:t>
            </a:r>
          </a:p>
          <a:p>
            <a:pPr lvl="1"/>
            <a:r>
              <a:rPr lang="en-US" dirty="0" smtClean="0"/>
              <a:t>Hardware Verification Architecture</a:t>
            </a:r>
          </a:p>
          <a:p>
            <a:r>
              <a:rPr lang="en-US" dirty="0" smtClean="0"/>
              <a:t>Software</a:t>
            </a:r>
          </a:p>
          <a:p>
            <a:r>
              <a:rPr lang="en-US" dirty="0" smtClean="0"/>
              <a:t>Results</a:t>
            </a:r>
          </a:p>
          <a:p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86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Motivation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55700"/>
            <a:ext cx="7772400" cy="4738024"/>
          </a:xfrm>
        </p:spPr>
        <p:txBody>
          <a:bodyPr/>
          <a:lstStyle/>
          <a:p>
            <a:r>
              <a:rPr lang="en-US" dirty="0" smtClean="0"/>
              <a:t>Proof correctness of image processing algorithm</a:t>
            </a:r>
          </a:p>
          <a:p>
            <a:r>
              <a:rPr lang="en-US" dirty="0" smtClean="0"/>
              <a:t>Testing with list of </a:t>
            </a:r>
            <a:r>
              <a:rPr lang="en-US" dirty="0" err="1" smtClean="0"/>
              <a:t>testcases</a:t>
            </a:r>
            <a:r>
              <a:rPr lang="en-US" dirty="0" smtClean="0"/>
              <a:t> – incomplete</a:t>
            </a:r>
          </a:p>
          <a:p>
            <a:r>
              <a:rPr lang="en-US" dirty="0" smtClean="0"/>
              <a:t>Using exhaustive testing</a:t>
            </a:r>
          </a:p>
          <a:p>
            <a:pPr lvl="1"/>
            <a:r>
              <a:rPr lang="en-US" dirty="0" smtClean="0"/>
              <a:t>Formal verification </a:t>
            </a:r>
            <a:r>
              <a:rPr lang="en-US" dirty="0" smtClean="0"/>
              <a:t>methods - </a:t>
            </a:r>
            <a:r>
              <a:rPr lang="en-US" dirty="0" smtClean="0"/>
              <a:t>do not </a:t>
            </a:r>
            <a:r>
              <a:rPr lang="en-US" dirty="0" smtClean="0"/>
              <a:t>work in every case</a:t>
            </a:r>
            <a:endParaRPr lang="en-US" dirty="0" smtClean="0"/>
          </a:p>
          <a:p>
            <a:pPr lvl="1"/>
            <a:r>
              <a:rPr lang="en-US" dirty="0" smtClean="0"/>
              <a:t>Verification by </a:t>
            </a:r>
            <a:r>
              <a:rPr lang="en-US" dirty="0" smtClean="0"/>
              <a:t>simulation - </a:t>
            </a:r>
            <a:r>
              <a:rPr lang="en-US" dirty="0" smtClean="0"/>
              <a:t>slow</a:t>
            </a:r>
            <a:endParaRPr lang="en-US" dirty="0"/>
          </a:p>
          <a:p>
            <a:r>
              <a:rPr lang="en-US" dirty="0" smtClean="0"/>
              <a:t>Testing requires &gt;80% of development time [</a:t>
            </a:r>
            <a:r>
              <a:rPr lang="en-US" dirty="0"/>
              <a:t>FGP10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Support the developer </a:t>
            </a:r>
          </a:p>
        </p:txBody>
      </p:sp>
    </p:spTree>
    <p:extLst>
      <p:ext uri="{BB962C8B-B14F-4D97-AF65-F5344CB8AC3E}">
        <p14:creationId xmlns:p14="http://schemas.microsoft.com/office/powerpoint/2010/main" val="288820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Goals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30761"/>
            <a:ext cx="7772400" cy="4738024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Verify correctness of single pass CCL</a:t>
            </a:r>
          </a:p>
          <a:p>
            <a:r>
              <a:rPr lang="en-US" dirty="0" smtClean="0"/>
              <a:t>Automatic </a:t>
            </a:r>
            <a:r>
              <a:rPr lang="en-US" dirty="0"/>
              <a:t>output verification for input </a:t>
            </a:r>
            <a:r>
              <a:rPr lang="en-US" dirty="0" smtClean="0"/>
              <a:t>stimuli</a:t>
            </a:r>
          </a:p>
          <a:p>
            <a:r>
              <a:rPr lang="en-US" dirty="0"/>
              <a:t>Using exhaustive testing – reasonable image </a:t>
            </a:r>
            <a:r>
              <a:rPr lang="en-US" dirty="0" smtClean="0"/>
              <a:t>size</a:t>
            </a:r>
          </a:p>
          <a:p>
            <a:r>
              <a:rPr lang="en-US" dirty="0" smtClean="0"/>
              <a:t>Reference CCL implementation</a:t>
            </a:r>
          </a:p>
          <a:p>
            <a:r>
              <a:rPr lang="en-US" dirty="0" smtClean="0"/>
              <a:t>Speedup verification with FPGA</a:t>
            </a:r>
          </a:p>
          <a:p>
            <a:r>
              <a:rPr lang="en-US" dirty="0" smtClean="0"/>
              <a:t>Send found errors </a:t>
            </a:r>
            <a:r>
              <a:rPr lang="en-US" dirty="0"/>
              <a:t>to </a:t>
            </a:r>
            <a:r>
              <a:rPr lang="en-US" dirty="0" smtClean="0"/>
              <a:t>PC</a:t>
            </a:r>
          </a:p>
          <a:p>
            <a:r>
              <a:rPr lang="en-US" dirty="0" smtClean="0"/>
              <a:t>Non exhaustive test for bigger image size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hteck 4"/>
          <p:cNvSpPr/>
          <p:nvPr/>
        </p:nvSpPr>
        <p:spPr>
          <a:xfrm>
            <a:off x="4916055" y="4144048"/>
            <a:ext cx="2078181" cy="1191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COMPARATOR</a:t>
            </a:r>
            <a:endParaRPr lang="en-US" dirty="0"/>
          </a:p>
        </p:txBody>
      </p:sp>
      <p:sp>
        <p:nvSpPr>
          <p:cNvPr id="6" name="Rechteck 5"/>
          <p:cNvSpPr/>
          <p:nvPr/>
        </p:nvSpPr>
        <p:spPr>
          <a:xfrm>
            <a:off x="3141286" y="4148204"/>
            <a:ext cx="1350818" cy="507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CCL-DUT</a:t>
            </a:r>
            <a:endParaRPr lang="en-US" dirty="0"/>
          </a:p>
        </p:txBody>
      </p:sp>
      <p:sp>
        <p:nvSpPr>
          <p:cNvPr id="7" name="Rechteck 6"/>
          <p:cNvSpPr/>
          <p:nvPr/>
        </p:nvSpPr>
        <p:spPr>
          <a:xfrm>
            <a:off x="3132972" y="4828184"/>
            <a:ext cx="1350818" cy="507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CCL-REF</a:t>
            </a:r>
            <a:endParaRPr lang="en-US" dirty="0"/>
          </a:p>
        </p:txBody>
      </p:sp>
      <p:sp>
        <p:nvSpPr>
          <p:cNvPr id="9" name="Rechteck 8"/>
          <p:cNvSpPr/>
          <p:nvPr/>
        </p:nvSpPr>
        <p:spPr>
          <a:xfrm>
            <a:off x="1263647" y="4486116"/>
            <a:ext cx="1369522" cy="507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STIM-GEN</a:t>
            </a:r>
            <a:endParaRPr lang="en-US" dirty="0"/>
          </a:p>
        </p:txBody>
      </p:sp>
      <p:cxnSp>
        <p:nvCxnSpPr>
          <p:cNvPr id="18" name="Gerader Verbinder 17"/>
          <p:cNvCxnSpPr>
            <a:stCxn id="9" idx="3"/>
          </p:cNvCxnSpPr>
          <p:nvPr/>
        </p:nvCxnSpPr>
        <p:spPr>
          <a:xfrm>
            <a:off x="2633169" y="4739654"/>
            <a:ext cx="254058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winkelte Verbindung 20"/>
          <p:cNvCxnSpPr>
            <a:endCxn id="6" idx="1"/>
          </p:cNvCxnSpPr>
          <p:nvPr/>
        </p:nvCxnSpPr>
        <p:spPr>
          <a:xfrm rot="5400000" flipH="1" flipV="1">
            <a:off x="2845300" y="4443669"/>
            <a:ext cx="337912" cy="25405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winkelte Verbindung 22"/>
          <p:cNvCxnSpPr>
            <a:endCxn id="7" idx="1"/>
          </p:cNvCxnSpPr>
          <p:nvPr/>
        </p:nvCxnSpPr>
        <p:spPr>
          <a:xfrm rot="16200000" flipH="1">
            <a:off x="2839065" y="4787815"/>
            <a:ext cx="342068" cy="245746"/>
          </a:xfrm>
          <a:prstGeom prst="bentConnector2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6" idx="3"/>
          </p:cNvCxnSpPr>
          <p:nvPr/>
        </p:nvCxnSpPr>
        <p:spPr>
          <a:xfrm>
            <a:off x="4492104" y="4401742"/>
            <a:ext cx="423951" cy="6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>
            <a:stCxn id="7" idx="3"/>
          </p:cNvCxnSpPr>
          <p:nvPr/>
        </p:nvCxnSpPr>
        <p:spPr>
          <a:xfrm flipV="1">
            <a:off x="4483790" y="5081721"/>
            <a:ext cx="43226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/>
          <p:nvPr/>
        </p:nvCxnSpPr>
        <p:spPr>
          <a:xfrm>
            <a:off x="6994236" y="4739654"/>
            <a:ext cx="3463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7293012" y="4547293"/>
            <a:ext cx="69923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ERR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17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Connected Component Labeling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55700"/>
            <a:ext cx="7772400" cy="378856"/>
          </a:xfrm>
        </p:spPr>
        <p:txBody>
          <a:bodyPr/>
          <a:lstStyle/>
          <a:p>
            <a:r>
              <a:rPr lang="en-US" dirty="0" smtClean="0"/>
              <a:t>Assign unique labels to connected pixels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hteck 4"/>
          <p:cNvSpPr/>
          <p:nvPr/>
        </p:nvSpPr>
        <p:spPr>
          <a:xfrm>
            <a:off x="2911448" y="2476500"/>
            <a:ext cx="478120" cy="4667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2911448" y="2943225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389568" y="3409950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3867688" y="2943225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Rechteck 8"/>
          <p:cNvSpPr/>
          <p:nvPr/>
        </p:nvSpPr>
        <p:spPr>
          <a:xfrm>
            <a:off x="4345807" y="2943225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4823927" y="2476500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4345807" y="3876675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" name="Rechteck 11"/>
          <p:cNvSpPr/>
          <p:nvPr/>
        </p:nvSpPr>
        <p:spPr>
          <a:xfrm>
            <a:off x="4823927" y="3876675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5302047" y="3409950"/>
            <a:ext cx="478120" cy="466725"/>
          </a:xfrm>
          <a:prstGeom prst="rect">
            <a:avLst/>
          </a:prstGeom>
          <a:solidFill>
            <a:schemeClr val="tx1"/>
          </a:solidFill>
          <a:ln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4" name="Gerader Verbinder 13"/>
          <p:cNvCxnSpPr/>
          <p:nvPr/>
        </p:nvCxnSpPr>
        <p:spPr>
          <a:xfrm>
            <a:off x="5302047" y="2943225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/>
          <p:nvPr/>
        </p:nvCxnSpPr>
        <p:spPr>
          <a:xfrm>
            <a:off x="4823927" y="3409950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>
            <a:off x="4345807" y="3409950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/>
        </p:nvCxnSpPr>
        <p:spPr>
          <a:xfrm>
            <a:off x="2911448" y="3409950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/>
          <p:nvPr/>
        </p:nvCxnSpPr>
        <p:spPr>
          <a:xfrm>
            <a:off x="3389568" y="3876675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/>
          <p:nvPr/>
        </p:nvCxnSpPr>
        <p:spPr>
          <a:xfrm>
            <a:off x="2911448" y="3876675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>
            <a:off x="3867688" y="3876675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/>
          <p:cNvCxnSpPr/>
          <p:nvPr/>
        </p:nvCxnSpPr>
        <p:spPr>
          <a:xfrm>
            <a:off x="4823927" y="3409950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/>
          <p:cNvCxnSpPr/>
          <p:nvPr/>
        </p:nvCxnSpPr>
        <p:spPr>
          <a:xfrm>
            <a:off x="2911448" y="4343400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>
            <a:off x="3389568" y="4343400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>
            <a:off x="3867688" y="4341259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/>
          <p:cNvCxnSpPr/>
          <p:nvPr/>
        </p:nvCxnSpPr>
        <p:spPr>
          <a:xfrm>
            <a:off x="2895600" y="3874536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/>
          <p:cNvCxnSpPr/>
          <p:nvPr/>
        </p:nvCxnSpPr>
        <p:spPr>
          <a:xfrm>
            <a:off x="3867688" y="3876675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/>
          <p:cNvCxnSpPr/>
          <p:nvPr/>
        </p:nvCxnSpPr>
        <p:spPr>
          <a:xfrm>
            <a:off x="3389568" y="2943225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/>
          <p:cNvCxnSpPr/>
          <p:nvPr/>
        </p:nvCxnSpPr>
        <p:spPr>
          <a:xfrm>
            <a:off x="3389568" y="2476500"/>
            <a:ext cx="146348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/>
          <p:cNvCxnSpPr/>
          <p:nvPr/>
        </p:nvCxnSpPr>
        <p:spPr>
          <a:xfrm>
            <a:off x="3867688" y="2476500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/>
          <p:nvPr/>
        </p:nvCxnSpPr>
        <p:spPr>
          <a:xfrm>
            <a:off x="4345807" y="2476500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/>
          <p:cNvCxnSpPr/>
          <p:nvPr/>
        </p:nvCxnSpPr>
        <p:spPr>
          <a:xfrm>
            <a:off x="5780644" y="2943225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/>
          <p:cNvCxnSpPr/>
          <p:nvPr/>
        </p:nvCxnSpPr>
        <p:spPr>
          <a:xfrm>
            <a:off x="5296991" y="2943225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/>
          <p:cNvCxnSpPr/>
          <p:nvPr/>
        </p:nvCxnSpPr>
        <p:spPr>
          <a:xfrm>
            <a:off x="5296991" y="2476500"/>
            <a:ext cx="478120" cy="0"/>
          </a:xfrm>
          <a:prstGeom prst="line">
            <a:avLst/>
          </a:prstGeom>
          <a:ln w="2540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5780644" y="2476500"/>
            <a:ext cx="0" cy="466725"/>
          </a:xfrm>
          <a:prstGeom prst="line">
            <a:avLst/>
          </a:prstGeom>
          <a:ln w="2540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/>
          <p:cNvCxnSpPr/>
          <p:nvPr/>
        </p:nvCxnSpPr>
        <p:spPr>
          <a:xfrm>
            <a:off x="5780644" y="3876675"/>
            <a:ext cx="0" cy="466725"/>
          </a:xfrm>
          <a:prstGeom prst="line">
            <a:avLst/>
          </a:prstGeom>
          <a:ln w="254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/>
          <p:cNvCxnSpPr/>
          <p:nvPr/>
        </p:nvCxnSpPr>
        <p:spPr>
          <a:xfrm>
            <a:off x="5296991" y="4343400"/>
            <a:ext cx="4781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/>
          <p:cNvSpPr/>
          <p:nvPr/>
        </p:nvSpPr>
        <p:spPr>
          <a:xfrm>
            <a:off x="2911447" y="2476500"/>
            <a:ext cx="2385542" cy="139803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hteck 37"/>
          <p:cNvSpPr/>
          <p:nvPr/>
        </p:nvSpPr>
        <p:spPr>
          <a:xfrm>
            <a:off x="4340751" y="3409948"/>
            <a:ext cx="1434356" cy="931311"/>
          </a:xfrm>
          <a:prstGeom prst="rect">
            <a:avLst/>
          </a:prstGeom>
          <a:solidFill>
            <a:schemeClr val="accent2">
              <a:alpha val="46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5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Connected Component Labeling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7" name="Gruppieren 116"/>
          <p:cNvGrpSpPr/>
          <p:nvPr/>
        </p:nvGrpSpPr>
        <p:grpSpPr>
          <a:xfrm>
            <a:off x="1369114" y="3091363"/>
            <a:ext cx="1655287" cy="1097280"/>
            <a:chOff x="2110652" y="2402377"/>
            <a:chExt cx="1655287" cy="1097280"/>
          </a:xfrm>
        </p:grpSpPr>
        <p:sp>
          <p:nvSpPr>
            <p:cNvPr id="4" name="Rechteck 3"/>
            <p:cNvSpPr/>
            <p:nvPr/>
          </p:nvSpPr>
          <p:spPr>
            <a:xfrm>
              <a:off x="2119745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Rechteck 5"/>
            <p:cNvSpPr/>
            <p:nvPr/>
          </p:nvSpPr>
          <p:spPr>
            <a:xfrm>
              <a:off x="2119745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2394065" y="295101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" name="Rechteck 7"/>
            <p:cNvSpPr/>
            <p:nvPr/>
          </p:nvSpPr>
          <p:spPr>
            <a:xfrm>
              <a:off x="2668385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3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2942705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2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Rechteck 9"/>
            <p:cNvSpPr/>
            <p:nvPr/>
          </p:nvSpPr>
          <p:spPr>
            <a:xfrm>
              <a:off x="3217025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2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2" name="Rechteck 11"/>
            <p:cNvSpPr/>
            <p:nvPr/>
          </p:nvSpPr>
          <p:spPr>
            <a:xfrm>
              <a:off x="2942705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5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" name="Rechteck 12"/>
            <p:cNvSpPr/>
            <p:nvPr/>
          </p:nvSpPr>
          <p:spPr>
            <a:xfrm>
              <a:off x="3217025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4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Rechteck 13"/>
            <p:cNvSpPr/>
            <p:nvPr/>
          </p:nvSpPr>
          <p:spPr>
            <a:xfrm>
              <a:off x="3491345" y="295101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4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Gerader Verbinder 15"/>
            <p:cNvCxnSpPr/>
            <p:nvPr/>
          </p:nvCxnSpPr>
          <p:spPr>
            <a:xfrm>
              <a:off x="3491345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3217025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/>
            <p:cNvCxnSpPr/>
            <p:nvPr/>
          </p:nvCxnSpPr>
          <p:spPr>
            <a:xfrm>
              <a:off x="2942705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/>
            <p:cNvCxnSpPr/>
            <p:nvPr/>
          </p:nvCxnSpPr>
          <p:spPr>
            <a:xfrm>
              <a:off x="2119745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/>
            <p:cNvCxnSpPr/>
            <p:nvPr/>
          </p:nvCxnSpPr>
          <p:spPr>
            <a:xfrm>
              <a:off x="2394065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/>
            <p:cNvCxnSpPr/>
            <p:nvPr/>
          </p:nvCxnSpPr>
          <p:spPr>
            <a:xfrm>
              <a:off x="2119745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/>
            <p:cNvCxnSpPr/>
            <p:nvPr/>
          </p:nvCxnSpPr>
          <p:spPr>
            <a:xfrm>
              <a:off x="2668385" y="322533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/>
            <p:cNvCxnSpPr/>
            <p:nvPr/>
          </p:nvCxnSpPr>
          <p:spPr>
            <a:xfrm>
              <a:off x="3217025" y="295101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/>
            <p:cNvCxnSpPr/>
            <p:nvPr/>
          </p:nvCxnSpPr>
          <p:spPr>
            <a:xfrm>
              <a:off x="2119745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/>
            <p:cNvCxnSpPr/>
            <p:nvPr/>
          </p:nvCxnSpPr>
          <p:spPr>
            <a:xfrm>
              <a:off x="2394065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/>
            <p:cNvCxnSpPr/>
            <p:nvPr/>
          </p:nvCxnSpPr>
          <p:spPr>
            <a:xfrm>
              <a:off x="2668385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/>
            <p:cNvCxnSpPr/>
            <p:nvPr/>
          </p:nvCxnSpPr>
          <p:spPr>
            <a:xfrm>
              <a:off x="2110652" y="3224080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/>
            <p:cNvCxnSpPr/>
            <p:nvPr/>
          </p:nvCxnSpPr>
          <p:spPr>
            <a:xfrm>
              <a:off x="2668385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/>
            <p:cNvCxnSpPr/>
            <p:nvPr/>
          </p:nvCxnSpPr>
          <p:spPr>
            <a:xfrm>
              <a:off x="2394065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/>
            <p:cNvCxnSpPr/>
            <p:nvPr/>
          </p:nvCxnSpPr>
          <p:spPr>
            <a:xfrm>
              <a:off x="2394065" y="2402377"/>
              <a:ext cx="83967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/>
            <p:cNvCxnSpPr/>
            <p:nvPr/>
          </p:nvCxnSpPr>
          <p:spPr>
            <a:xfrm>
              <a:off x="2668385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/>
            <p:cNvCxnSpPr/>
            <p:nvPr/>
          </p:nvCxnSpPr>
          <p:spPr>
            <a:xfrm>
              <a:off x="2942705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/>
            <p:cNvCxnSpPr/>
            <p:nvPr/>
          </p:nvCxnSpPr>
          <p:spPr>
            <a:xfrm>
              <a:off x="3765939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/>
            <p:cNvCxnSpPr/>
            <p:nvPr/>
          </p:nvCxnSpPr>
          <p:spPr>
            <a:xfrm>
              <a:off x="3488444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/>
            <p:cNvCxnSpPr/>
            <p:nvPr/>
          </p:nvCxnSpPr>
          <p:spPr>
            <a:xfrm>
              <a:off x="3488444" y="2402377"/>
              <a:ext cx="274320" cy="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/>
            <p:cNvCxnSpPr/>
            <p:nvPr/>
          </p:nvCxnSpPr>
          <p:spPr>
            <a:xfrm>
              <a:off x="3765939" y="2402377"/>
              <a:ext cx="0" cy="27432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/>
            <p:cNvCxnSpPr/>
            <p:nvPr/>
          </p:nvCxnSpPr>
          <p:spPr>
            <a:xfrm>
              <a:off x="376593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/>
            <p:cNvCxnSpPr/>
            <p:nvPr/>
          </p:nvCxnSpPr>
          <p:spPr>
            <a:xfrm>
              <a:off x="3488444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uppieren 117"/>
          <p:cNvGrpSpPr/>
          <p:nvPr/>
        </p:nvGrpSpPr>
        <p:grpSpPr>
          <a:xfrm>
            <a:off x="6301508" y="3082871"/>
            <a:ext cx="1655287" cy="1097280"/>
            <a:chOff x="4081316" y="2402377"/>
            <a:chExt cx="1655287" cy="1097280"/>
          </a:xfrm>
        </p:grpSpPr>
        <p:sp>
          <p:nvSpPr>
            <p:cNvPr id="53" name="Rechteck 52"/>
            <p:cNvSpPr/>
            <p:nvPr/>
          </p:nvSpPr>
          <p:spPr>
            <a:xfrm>
              <a:off x="4090409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4" name="Rechteck 53"/>
            <p:cNvSpPr/>
            <p:nvPr/>
          </p:nvSpPr>
          <p:spPr>
            <a:xfrm>
              <a:off x="4090409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5" name="Rechteck 54"/>
            <p:cNvSpPr/>
            <p:nvPr/>
          </p:nvSpPr>
          <p:spPr>
            <a:xfrm>
              <a:off x="4364729" y="295101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6" name="Rechteck 55"/>
            <p:cNvSpPr/>
            <p:nvPr/>
          </p:nvSpPr>
          <p:spPr>
            <a:xfrm>
              <a:off x="4639049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7" name="Rechteck 56"/>
            <p:cNvSpPr/>
            <p:nvPr/>
          </p:nvSpPr>
          <p:spPr>
            <a:xfrm>
              <a:off x="4913369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8" name="Rechteck 57"/>
            <p:cNvSpPr/>
            <p:nvPr/>
          </p:nvSpPr>
          <p:spPr>
            <a:xfrm>
              <a:off x="5187689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Rechteck 58"/>
            <p:cNvSpPr/>
            <p:nvPr/>
          </p:nvSpPr>
          <p:spPr>
            <a:xfrm>
              <a:off x="4913369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0" name="Rechteck 59"/>
            <p:cNvSpPr/>
            <p:nvPr/>
          </p:nvSpPr>
          <p:spPr>
            <a:xfrm>
              <a:off x="5187689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4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1" name="Rechteck 60"/>
            <p:cNvSpPr/>
            <p:nvPr/>
          </p:nvSpPr>
          <p:spPr>
            <a:xfrm>
              <a:off x="5462009" y="295101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4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62" name="Gerader Verbinder 61"/>
            <p:cNvCxnSpPr/>
            <p:nvPr/>
          </p:nvCxnSpPr>
          <p:spPr>
            <a:xfrm>
              <a:off x="5462009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/>
            <p:cNvCxnSpPr/>
            <p:nvPr/>
          </p:nvCxnSpPr>
          <p:spPr>
            <a:xfrm>
              <a:off x="5187689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/>
            <p:cNvCxnSpPr/>
            <p:nvPr/>
          </p:nvCxnSpPr>
          <p:spPr>
            <a:xfrm>
              <a:off x="4913369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/>
            <p:cNvCxnSpPr/>
            <p:nvPr/>
          </p:nvCxnSpPr>
          <p:spPr>
            <a:xfrm>
              <a:off x="4090409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65"/>
            <p:cNvCxnSpPr/>
            <p:nvPr/>
          </p:nvCxnSpPr>
          <p:spPr>
            <a:xfrm>
              <a:off x="436472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/>
            <p:cNvCxnSpPr/>
            <p:nvPr/>
          </p:nvCxnSpPr>
          <p:spPr>
            <a:xfrm>
              <a:off x="409040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67"/>
            <p:cNvCxnSpPr/>
            <p:nvPr/>
          </p:nvCxnSpPr>
          <p:spPr>
            <a:xfrm>
              <a:off x="4639049" y="322533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/>
            <p:cNvCxnSpPr/>
            <p:nvPr/>
          </p:nvCxnSpPr>
          <p:spPr>
            <a:xfrm>
              <a:off x="5187689" y="295101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69"/>
            <p:cNvCxnSpPr/>
            <p:nvPr/>
          </p:nvCxnSpPr>
          <p:spPr>
            <a:xfrm>
              <a:off x="4090409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70"/>
            <p:cNvCxnSpPr/>
            <p:nvPr/>
          </p:nvCxnSpPr>
          <p:spPr>
            <a:xfrm>
              <a:off x="4364729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/>
            <p:cNvCxnSpPr/>
            <p:nvPr/>
          </p:nvCxnSpPr>
          <p:spPr>
            <a:xfrm>
              <a:off x="4639049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/>
            <p:cNvCxnSpPr/>
            <p:nvPr/>
          </p:nvCxnSpPr>
          <p:spPr>
            <a:xfrm>
              <a:off x="4081316" y="3224080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r Verbinder 73"/>
            <p:cNvCxnSpPr/>
            <p:nvPr/>
          </p:nvCxnSpPr>
          <p:spPr>
            <a:xfrm>
              <a:off x="463904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r Verbinder 74"/>
            <p:cNvCxnSpPr/>
            <p:nvPr/>
          </p:nvCxnSpPr>
          <p:spPr>
            <a:xfrm>
              <a:off x="4364729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r Verbinder 75"/>
            <p:cNvCxnSpPr/>
            <p:nvPr/>
          </p:nvCxnSpPr>
          <p:spPr>
            <a:xfrm>
              <a:off x="4364729" y="2402377"/>
              <a:ext cx="83967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r Verbinder 76"/>
            <p:cNvCxnSpPr/>
            <p:nvPr/>
          </p:nvCxnSpPr>
          <p:spPr>
            <a:xfrm>
              <a:off x="4639049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r Verbinder 77"/>
            <p:cNvCxnSpPr/>
            <p:nvPr/>
          </p:nvCxnSpPr>
          <p:spPr>
            <a:xfrm>
              <a:off x="4913369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/>
            <p:cNvCxnSpPr/>
            <p:nvPr/>
          </p:nvCxnSpPr>
          <p:spPr>
            <a:xfrm>
              <a:off x="5736603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/>
            <p:cNvCxnSpPr/>
            <p:nvPr/>
          </p:nvCxnSpPr>
          <p:spPr>
            <a:xfrm>
              <a:off x="5459108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/>
            <p:cNvCxnSpPr/>
            <p:nvPr/>
          </p:nvCxnSpPr>
          <p:spPr>
            <a:xfrm>
              <a:off x="5459108" y="2402377"/>
              <a:ext cx="274320" cy="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/>
            <p:cNvCxnSpPr/>
            <p:nvPr/>
          </p:nvCxnSpPr>
          <p:spPr>
            <a:xfrm>
              <a:off x="5736603" y="2402377"/>
              <a:ext cx="0" cy="27432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r Verbinder 82"/>
            <p:cNvCxnSpPr/>
            <p:nvPr/>
          </p:nvCxnSpPr>
          <p:spPr>
            <a:xfrm>
              <a:off x="5736603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r Verbinder 83"/>
            <p:cNvCxnSpPr/>
            <p:nvPr/>
          </p:nvCxnSpPr>
          <p:spPr>
            <a:xfrm>
              <a:off x="5459108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Inhaltsplatzhalter 2"/>
          <p:cNvSpPr>
            <a:spLocks noGrp="1"/>
          </p:cNvSpPr>
          <p:nvPr>
            <p:ph idx="1"/>
          </p:nvPr>
        </p:nvSpPr>
        <p:spPr>
          <a:xfrm>
            <a:off x="685800" y="2290114"/>
            <a:ext cx="7772400" cy="3723335"/>
          </a:xfrm>
        </p:spPr>
        <p:txBody>
          <a:bodyPr/>
          <a:lstStyle/>
          <a:p>
            <a:r>
              <a:rPr lang="en-US" dirty="0" smtClean="0"/>
              <a:t>2-pass Connected Component Labeling</a:t>
            </a:r>
            <a:endParaRPr lang="en-US" dirty="0"/>
          </a:p>
        </p:txBody>
      </p:sp>
      <p:sp>
        <p:nvSpPr>
          <p:cNvPr id="86" name="Titel 1"/>
          <p:cNvSpPr txBox="1">
            <a:spLocks/>
          </p:cNvSpPr>
          <p:nvPr/>
        </p:nvSpPr>
        <p:spPr bwMode="auto">
          <a:xfrm>
            <a:off x="685800" y="114622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 smtClean="0"/>
              <a:t>Proposed</a:t>
            </a:r>
            <a:r>
              <a:rPr lang="de-DE" kern="0" dirty="0" smtClean="0"/>
              <a:t> Design – 2-pass </a:t>
            </a:r>
            <a:r>
              <a:rPr lang="en-US" kern="0" dirty="0" smtClean="0"/>
              <a:t>CCL</a:t>
            </a:r>
            <a:endParaRPr lang="en-US" kern="0" dirty="0"/>
          </a:p>
        </p:txBody>
      </p:sp>
      <p:grpSp>
        <p:nvGrpSpPr>
          <p:cNvPr id="116" name="Gruppieren 115"/>
          <p:cNvGrpSpPr/>
          <p:nvPr/>
        </p:nvGrpSpPr>
        <p:grpSpPr>
          <a:xfrm>
            <a:off x="3021226" y="4874442"/>
            <a:ext cx="548640" cy="822959"/>
            <a:chOff x="2384972" y="4048297"/>
            <a:chExt cx="548640" cy="822959"/>
          </a:xfrm>
        </p:grpSpPr>
        <p:sp>
          <p:nvSpPr>
            <p:cNvPr id="87" name="Rechteck 86"/>
            <p:cNvSpPr/>
            <p:nvPr/>
          </p:nvSpPr>
          <p:spPr>
            <a:xfrm>
              <a:off x="2384972" y="404829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Rechteck 87"/>
            <p:cNvSpPr/>
            <p:nvPr/>
          </p:nvSpPr>
          <p:spPr>
            <a:xfrm>
              <a:off x="2659292" y="404829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Rechteck 88"/>
            <p:cNvSpPr/>
            <p:nvPr/>
          </p:nvSpPr>
          <p:spPr>
            <a:xfrm>
              <a:off x="2384972" y="432261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Rechteck 89"/>
            <p:cNvSpPr/>
            <p:nvPr/>
          </p:nvSpPr>
          <p:spPr>
            <a:xfrm>
              <a:off x="2659292" y="432261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Rechteck 90"/>
            <p:cNvSpPr/>
            <p:nvPr/>
          </p:nvSpPr>
          <p:spPr>
            <a:xfrm>
              <a:off x="2384972" y="4596936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2" name="Rechteck 91"/>
            <p:cNvSpPr/>
            <p:nvPr/>
          </p:nvSpPr>
          <p:spPr>
            <a:xfrm>
              <a:off x="2659292" y="4596936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5" name="Gruppieren 124"/>
          <p:cNvGrpSpPr/>
          <p:nvPr/>
        </p:nvGrpSpPr>
        <p:grpSpPr>
          <a:xfrm>
            <a:off x="4007080" y="2952136"/>
            <a:ext cx="549410" cy="1375083"/>
            <a:chOff x="4172181" y="2221585"/>
            <a:chExt cx="549410" cy="1375083"/>
          </a:xfrm>
        </p:grpSpPr>
        <p:sp>
          <p:nvSpPr>
            <p:cNvPr id="105" name="Rechteck 104"/>
            <p:cNvSpPr/>
            <p:nvPr/>
          </p:nvSpPr>
          <p:spPr>
            <a:xfrm>
              <a:off x="4172951" y="222158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Rechteck 105"/>
            <p:cNvSpPr/>
            <p:nvPr/>
          </p:nvSpPr>
          <p:spPr>
            <a:xfrm>
              <a:off x="4447271" y="222158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Rechteck 106"/>
            <p:cNvSpPr/>
            <p:nvPr/>
          </p:nvSpPr>
          <p:spPr>
            <a:xfrm>
              <a:off x="4172951" y="249590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Rechteck 107"/>
            <p:cNvSpPr/>
            <p:nvPr/>
          </p:nvSpPr>
          <p:spPr>
            <a:xfrm>
              <a:off x="4447271" y="249590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Rechteck 108"/>
            <p:cNvSpPr/>
            <p:nvPr/>
          </p:nvSpPr>
          <p:spPr>
            <a:xfrm>
              <a:off x="4172951" y="2770224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Rechteck 109"/>
            <p:cNvSpPr/>
            <p:nvPr/>
          </p:nvSpPr>
          <p:spPr>
            <a:xfrm>
              <a:off x="4447271" y="2770224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Rechteck 110"/>
            <p:cNvSpPr/>
            <p:nvPr/>
          </p:nvSpPr>
          <p:spPr>
            <a:xfrm>
              <a:off x="4172181" y="3048029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Rechteck 111"/>
            <p:cNvSpPr/>
            <p:nvPr/>
          </p:nvSpPr>
          <p:spPr>
            <a:xfrm>
              <a:off x="4447271" y="3048029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Rechteck 112"/>
            <p:cNvSpPr/>
            <p:nvPr/>
          </p:nvSpPr>
          <p:spPr>
            <a:xfrm>
              <a:off x="4172975" y="3322348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4" name="Rechteck 113"/>
            <p:cNvSpPr/>
            <p:nvPr/>
          </p:nvSpPr>
          <p:spPr>
            <a:xfrm>
              <a:off x="4446716" y="3322348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0" name="Gerade Verbindung mit Pfeil 119"/>
          <p:cNvCxnSpPr/>
          <p:nvPr/>
        </p:nvCxnSpPr>
        <p:spPr>
          <a:xfrm>
            <a:off x="2208031" y="4308945"/>
            <a:ext cx="676035" cy="565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mit Pfeil 126"/>
          <p:cNvCxnSpPr/>
          <p:nvPr/>
        </p:nvCxnSpPr>
        <p:spPr>
          <a:xfrm flipV="1">
            <a:off x="3644899" y="4431014"/>
            <a:ext cx="461963" cy="6619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Gerade Verbindung mit Pfeil 129"/>
          <p:cNvCxnSpPr/>
          <p:nvPr/>
        </p:nvCxnSpPr>
        <p:spPr>
          <a:xfrm>
            <a:off x="5086984" y="3637935"/>
            <a:ext cx="7334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30"/>
          <p:cNvSpPr txBox="1"/>
          <p:nvPr/>
        </p:nvSpPr>
        <p:spPr>
          <a:xfrm>
            <a:off x="685800" y="4398813"/>
            <a:ext cx="21982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first-pass</a:t>
            </a:r>
          </a:p>
          <a:p>
            <a:r>
              <a:rPr lang="en-US" dirty="0" smtClean="0"/>
              <a:t>equivalence table</a:t>
            </a:r>
            <a:endParaRPr lang="en-US" dirty="0"/>
          </a:p>
        </p:txBody>
      </p:sp>
      <p:sp>
        <p:nvSpPr>
          <p:cNvPr id="132" name="Textfeld 131"/>
          <p:cNvSpPr txBox="1"/>
          <p:nvPr/>
        </p:nvSpPr>
        <p:spPr>
          <a:xfrm>
            <a:off x="3768562" y="4841260"/>
            <a:ext cx="21982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lookup table generation</a:t>
            </a:r>
          </a:p>
        </p:txBody>
      </p:sp>
      <p:sp>
        <p:nvSpPr>
          <p:cNvPr id="133" name="Textfeld 132"/>
          <p:cNvSpPr txBox="1"/>
          <p:nvPr/>
        </p:nvSpPr>
        <p:spPr>
          <a:xfrm>
            <a:off x="4690773" y="3663461"/>
            <a:ext cx="160164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second-pass</a:t>
            </a:r>
          </a:p>
        </p:txBody>
      </p:sp>
      <p:sp>
        <p:nvSpPr>
          <p:cNvPr id="134" name="Rechteck 133"/>
          <p:cNvSpPr/>
          <p:nvPr/>
        </p:nvSpPr>
        <p:spPr>
          <a:xfrm>
            <a:off x="6310600" y="3082871"/>
            <a:ext cx="1368699" cy="82170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hteck 134"/>
          <p:cNvSpPr/>
          <p:nvPr/>
        </p:nvSpPr>
        <p:spPr>
          <a:xfrm>
            <a:off x="7130660" y="3631510"/>
            <a:ext cx="822958" cy="547383"/>
          </a:xfrm>
          <a:prstGeom prst="rect">
            <a:avLst/>
          </a:prstGeom>
          <a:solidFill>
            <a:schemeClr val="accent2">
              <a:alpha val="46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Textfeld 135"/>
          <p:cNvSpPr txBox="1"/>
          <p:nvPr/>
        </p:nvSpPr>
        <p:spPr>
          <a:xfrm>
            <a:off x="6211119" y="4342810"/>
            <a:ext cx="198679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Bounding boxes</a:t>
            </a:r>
          </a:p>
        </p:txBody>
      </p:sp>
      <p:grpSp>
        <p:nvGrpSpPr>
          <p:cNvPr id="15" name="Gruppieren 14"/>
          <p:cNvGrpSpPr/>
          <p:nvPr/>
        </p:nvGrpSpPr>
        <p:grpSpPr>
          <a:xfrm>
            <a:off x="2421068" y="1162991"/>
            <a:ext cx="3997052" cy="855735"/>
            <a:chOff x="1545781" y="1828800"/>
            <a:chExt cx="3997052" cy="855735"/>
          </a:xfrm>
        </p:grpSpPr>
        <p:sp>
          <p:nvSpPr>
            <p:cNvPr id="103" name="Rechteck 102"/>
            <p:cNvSpPr/>
            <p:nvPr/>
          </p:nvSpPr>
          <p:spPr>
            <a:xfrm>
              <a:off x="1661463" y="1971561"/>
              <a:ext cx="274320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hteck 103"/>
            <p:cNvSpPr/>
            <p:nvPr/>
          </p:nvSpPr>
          <p:spPr>
            <a:xfrm>
              <a:off x="1660468" y="2244623"/>
              <a:ext cx="274320" cy="274320"/>
            </a:xfrm>
            <a:prstGeom prst="rect">
              <a:avLst/>
            </a:prstGeom>
            <a:solidFill>
              <a:schemeClr val="bg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D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5" name="Rechteck 114"/>
            <p:cNvSpPr/>
            <p:nvPr/>
          </p:nvSpPr>
          <p:spPr>
            <a:xfrm>
              <a:off x="1932798" y="1971560"/>
              <a:ext cx="274320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Rechteck 118"/>
            <p:cNvSpPr/>
            <p:nvPr/>
          </p:nvSpPr>
          <p:spPr>
            <a:xfrm>
              <a:off x="2207118" y="1971560"/>
              <a:ext cx="274320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21" name="Rechteck 120"/>
            <p:cNvSpPr/>
            <p:nvPr/>
          </p:nvSpPr>
          <p:spPr>
            <a:xfrm>
              <a:off x="1932798" y="2244623"/>
              <a:ext cx="274320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2"/>
                  </a:solidFill>
                </a:rPr>
                <a:t>X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5" name="Rechteck 4"/>
            <p:cNvSpPr/>
            <p:nvPr/>
          </p:nvSpPr>
          <p:spPr>
            <a:xfrm>
              <a:off x="1545781" y="1828800"/>
              <a:ext cx="3997051" cy="8557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2748478" y="2031702"/>
              <a:ext cx="279435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Neighborhood of pixel X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642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hteck 113"/>
          <p:cNvSpPr/>
          <p:nvPr/>
        </p:nvSpPr>
        <p:spPr>
          <a:xfrm>
            <a:off x="5768816" y="3394162"/>
            <a:ext cx="1493520" cy="10070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</a:t>
            </a:r>
            <a:r>
              <a:rPr lang="de-DE" dirty="0" smtClean="0"/>
              <a:t> Design – </a:t>
            </a:r>
            <a:r>
              <a:rPr lang="en-US" dirty="0" smtClean="0"/>
              <a:t>CCL REF</a:t>
            </a:r>
            <a:endParaRPr lang="en-US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1295400" y="1088671"/>
            <a:ext cx="1484925" cy="1029427"/>
            <a:chOff x="2110652" y="2402377"/>
            <a:chExt cx="1655287" cy="1097280"/>
          </a:xfrm>
        </p:grpSpPr>
        <p:sp>
          <p:nvSpPr>
            <p:cNvPr id="5" name="Rechteck 4"/>
            <p:cNvSpPr/>
            <p:nvPr/>
          </p:nvSpPr>
          <p:spPr>
            <a:xfrm>
              <a:off x="2119745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" name="Rechteck 5"/>
            <p:cNvSpPr/>
            <p:nvPr/>
          </p:nvSpPr>
          <p:spPr>
            <a:xfrm>
              <a:off x="2119745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2394065" y="295101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8" name="Rechteck 7"/>
            <p:cNvSpPr/>
            <p:nvPr/>
          </p:nvSpPr>
          <p:spPr>
            <a:xfrm>
              <a:off x="2668385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3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2942705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2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hteck 9"/>
            <p:cNvSpPr/>
            <p:nvPr/>
          </p:nvSpPr>
          <p:spPr>
            <a:xfrm>
              <a:off x="3217025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2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hteck 10"/>
            <p:cNvSpPr/>
            <p:nvPr/>
          </p:nvSpPr>
          <p:spPr>
            <a:xfrm>
              <a:off x="2942705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5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hteck 11"/>
            <p:cNvSpPr/>
            <p:nvPr/>
          </p:nvSpPr>
          <p:spPr>
            <a:xfrm>
              <a:off x="3217025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4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" name="Rechteck 12"/>
            <p:cNvSpPr/>
            <p:nvPr/>
          </p:nvSpPr>
          <p:spPr>
            <a:xfrm>
              <a:off x="3491345" y="295101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4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4" name="Gerader Verbinder 13"/>
            <p:cNvCxnSpPr/>
            <p:nvPr/>
          </p:nvCxnSpPr>
          <p:spPr>
            <a:xfrm>
              <a:off x="3491345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/>
            <p:cNvCxnSpPr/>
            <p:nvPr/>
          </p:nvCxnSpPr>
          <p:spPr>
            <a:xfrm>
              <a:off x="3217025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/>
            <p:cNvCxnSpPr/>
            <p:nvPr/>
          </p:nvCxnSpPr>
          <p:spPr>
            <a:xfrm>
              <a:off x="2942705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2119745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/>
            <p:cNvCxnSpPr/>
            <p:nvPr/>
          </p:nvCxnSpPr>
          <p:spPr>
            <a:xfrm>
              <a:off x="2394065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/>
            <p:cNvCxnSpPr/>
            <p:nvPr/>
          </p:nvCxnSpPr>
          <p:spPr>
            <a:xfrm>
              <a:off x="2119745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/>
            <p:cNvCxnSpPr/>
            <p:nvPr/>
          </p:nvCxnSpPr>
          <p:spPr>
            <a:xfrm>
              <a:off x="2668385" y="322533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/>
            <p:cNvCxnSpPr/>
            <p:nvPr/>
          </p:nvCxnSpPr>
          <p:spPr>
            <a:xfrm>
              <a:off x="3217025" y="295101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/>
            <p:cNvCxnSpPr/>
            <p:nvPr/>
          </p:nvCxnSpPr>
          <p:spPr>
            <a:xfrm>
              <a:off x="2119745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/>
            <p:cNvCxnSpPr/>
            <p:nvPr/>
          </p:nvCxnSpPr>
          <p:spPr>
            <a:xfrm>
              <a:off x="2394065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/>
          </p:nvCxnSpPr>
          <p:spPr>
            <a:xfrm>
              <a:off x="2668385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/>
            <p:cNvCxnSpPr/>
            <p:nvPr/>
          </p:nvCxnSpPr>
          <p:spPr>
            <a:xfrm>
              <a:off x="2110652" y="3224080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/>
            <p:cNvCxnSpPr/>
            <p:nvPr/>
          </p:nvCxnSpPr>
          <p:spPr>
            <a:xfrm>
              <a:off x="2668385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/>
            <p:cNvCxnSpPr/>
            <p:nvPr/>
          </p:nvCxnSpPr>
          <p:spPr>
            <a:xfrm>
              <a:off x="2394065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/>
            <p:cNvCxnSpPr/>
            <p:nvPr/>
          </p:nvCxnSpPr>
          <p:spPr>
            <a:xfrm>
              <a:off x="2394064" y="2402377"/>
              <a:ext cx="83967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/>
            <p:cNvCxnSpPr/>
            <p:nvPr/>
          </p:nvCxnSpPr>
          <p:spPr>
            <a:xfrm>
              <a:off x="2668385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/>
            <p:cNvCxnSpPr/>
            <p:nvPr/>
          </p:nvCxnSpPr>
          <p:spPr>
            <a:xfrm>
              <a:off x="2942705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/>
            <p:cNvCxnSpPr/>
            <p:nvPr/>
          </p:nvCxnSpPr>
          <p:spPr>
            <a:xfrm>
              <a:off x="3765939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/>
            <p:cNvCxnSpPr/>
            <p:nvPr/>
          </p:nvCxnSpPr>
          <p:spPr>
            <a:xfrm>
              <a:off x="3488444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/>
            <p:cNvCxnSpPr/>
            <p:nvPr/>
          </p:nvCxnSpPr>
          <p:spPr>
            <a:xfrm>
              <a:off x="3488444" y="2402377"/>
              <a:ext cx="274320" cy="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/>
            <p:cNvCxnSpPr/>
            <p:nvPr/>
          </p:nvCxnSpPr>
          <p:spPr>
            <a:xfrm>
              <a:off x="3765939" y="2402377"/>
              <a:ext cx="0" cy="27432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/>
            <p:cNvCxnSpPr/>
            <p:nvPr/>
          </p:nvCxnSpPr>
          <p:spPr>
            <a:xfrm>
              <a:off x="376593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/>
            <p:cNvCxnSpPr/>
            <p:nvPr/>
          </p:nvCxnSpPr>
          <p:spPr>
            <a:xfrm>
              <a:off x="3488444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hteck 36"/>
          <p:cNvSpPr/>
          <p:nvPr/>
        </p:nvSpPr>
        <p:spPr>
          <a:xfrm>
            <a:off x="3718651" y="3385544"/>
            <a:ext cx="1493520" cy="10156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LABELING</a:t>
            </a:r>
            <a:endParaRPr lang="en-US" b="1" dirty="0"/>
          </a:p>
        </p:txBody>
      </p:sp>
      <p:sp>
        <p:nvSpPr>
          <p:cNvPr id="38" name="Textfeld 37"/>
          <p:cNvSpPr txBox="1"/>
          <p:nvPr/>
        </p:nvSpPr>
        <p:spPr>
          <a:xfrm>
            <a:off x="4564856" y="3385544"/>
            <a:ext cx="647700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1600" dirty="0" smtClean="0"/>
              <a:t>EQUI</a:t>
            </a:r>
            <a:endParaRPr lang="en-US" sz="1600" dirty="0"/>
          </a:p>
        </p:txBody>
      </p:sp>
      <p:sp>
        <p:nvSpPr>
          <p:cNvPr id="39" name="Textfeld 38"/>
          <p:cNvSpPr txBox="1"/>
          <p:nvPr/>
        </p:nvSpPr>
        <p:spPr>
          <a:xfrm>
            <a:off x="4450364" y="4062651"/>
            <a:ext cx="762000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1600" dirty="0" smtClean="0"/>
              <a:t>LABEL</a:t>
            </a:r>
            <a:endParaRPr lang="en-US" sz="1600" dirty="0"/>
          </a:p>
        </p:txBody>
      </p:sp>
      <p:sp>
        <p:nvSpPr>
          <p:cNvPr id="40" name="Rechteck 39"/>
          <p:cNvSpPr/>
          <p:nvPr/>
        </p:nvSpPr>
        <p:spPr>
          <a:xfrm>
            <a:off x="5768816" y="3385544"/>
            <a:ext cx="1493520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/>
                </a:solidFill>
              </a:rPr>
              <a:t>FIFO</a:t>
            </a:r>
            <a:endParaRPr lang="en-US" dirty="0">
              <a:solidFill>
                <a:schemeClr val="bg2"/>
              </a:solidFill>
            </a:endParaRPr>
          </a:p>
        </p:txBody>
      </p:sp>
      <p:grpSp>
        <p:nvGrpSpPr>
          <p:cNvPr id="41" name="Gruppieren 40"/>
          <p:cNvGrpSpPr/>
          <p:nvPr/>
        </p:nvGrpSpPr>
        <p:grpSpPr>
          <a:xfrm>
            <a:off x="3549667" y="1584824"/>
            <a:ext cx="370925" cy="615983"/>
            <a:chOff x="2384972" y="4048297"/>
            <a:chExt cx="548640" cy="822959"/>
          </a:xfrm>
        </p:grpSpPr>
        <p:sp>
          <p:nvSpPr>
            <p:cNvPr id="42" name="Rechteck 41"/>
            <p:cNvSpPr/>
            <p:nvPr/>
          </p:nvSpPr>
          <p:spPr>
            <a:xfrm>
              <a:off x="2384972" y="404829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3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hteck 42"/>
            <p:cNvSpPr/>
            <p:nvPr/>
          </p:nvSpPr>
          <p:spPr>
            <a:xfrm>
              <a:off x="2659292" y="404829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2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Rechteck 43"/>
            <p:cNvSpPr/>
            <p:nvPr/>
          </p:nvSpPr>
          <p:spPr>
            <a:xfrm>
              <a:off x="2384972" y="432261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3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hteck 44"/>
            <p:cNvSpPr/>
            <p:nvPr/>
          </p:nvSpPr>
          <p:spPr>
            <a:xfrm>
              <a:off x="2659292" y="4322617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hteck 45"/>
            <p:cNvSpPr/>
            <p:nvPr/>
          </p:nvSpPr>
          <p:spPr>
            <a:xfrm>
              <a:off x="2384972" y="4596936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5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hteck 46"/>
            <p:cNvSpPr/>
            <p:nvPr/>
          </p:nvSpPr>
          <p:spPr>
            <a:xfrm>
              <a:off x="2659292" y="4596936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4685896" y="1081997"/>
            <a:ext cx="453976" cy="1060050"/>
            <a:chOff x="4158395" y="2221585"/>
            <a:chExt cx="553572" cy="1373662"/>
          </a:xfrm>
        </p:grpSpPr>
        <p:sp>
          <p:nvSpPr>
            <p:cNvPr id="49" name="Rechteck 48"/>
            <p:cNvSpPr/>
            <p:nvPr/>
          </p:nvSpPr>
          <p:spPr>
            <a:xfrm>
              <a:off x="4158895" y="222158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hteck 49"/>
            <p:cNvSpPr/>
            <p:nvPr/>
          </p:nvSpPr>
          <p:spPr>
            <a:xfrm>
              <a:off x="4437647" y="222158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hteck 50"/>
            <p:cNvSpPr/>
            <p:nvPr/>
          </p:nvSpPr>
          <p:spPr>
            <a:xfrm>
              <a:off x="4158895" y="249590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2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hteck 51"/>
            <p:cNvSpPr/>
            <p:nvPr/>
          </p:nvSpPr>
          <p:spPr>
            <a:xfrm>
              <a:off x="4437647" y="249590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hteck 52"/>
            <p:cNvSpPr/>
            <p:nvPr/>
          </p:nvSpPr>
          <p:spPr>
            <a:xfrm>
              <a:off x="4158895" y="277022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3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hteck 53"/>
            <p:cNvSpPr/>
            <p:nvPr/>
          </p:nvSpPr>
          <p:spPr>
            <a:xfrm>
              <a:off x="4437647" y="277022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1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hteck 54"/>
            <p:cNvSpPr/>
            <p:nvPr/>
          </p:nvSpPr>
          <p:spPr>
            <a:xfrm>
              <a:off x="4158395" y="3046972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6" name="Rechteck 55"/>
            <p:cNvSpPr/>
            <p:nvPr/>
          </p:nvSpPr>
          <p:spPr>
            <a:xfrm>
              <a:off x="4437647" y="3044545"/>
              <a:ext cx="274320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hteck 56"/>
            <p:cNvSpPr/>
            <p:nvPr/>
          </p:nvSpPr>
          <p:spPr>
            <a:xfrm>
              <a:off x="4158395" y="3320927"/>
              <a:ext cx="274321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5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hteck 57"/>
            <p:cNvSpPr/>
            <p:nvPr/>
          </p:nvSpPr>
          <p:spPr>
            <a:xfrm>
              <a:off x="4437639" y="3320927"/>
              <a:ext cx="274321" cy="274320"/>
            </a:xfrm>
            <a:prstGeom prst="rect">
              <a:avLst/>
            </a:prstGeom>
            <a:noFill/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4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6306307" y="1102811"/>
            <a:ext cx="1472463" cy="1036884"/>
            <a:chOff x="4081316" y="2402377"/>
            <a:chExt cx="1657912" cy="1097280"/>
          </a:xfrm>
        </p:grpSpPr>
        <p:sp>
          <p:nvSpPr>
            <p:cNvPr id="60" name="Rechteck 59"/>
            <p:cNvSpPr/>
            <p:nvPr/>
          </p:nvSpPr>
          <p:spPr>
            <a:xfrm>
              <a:off x="4090409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1" name="Rechteck 60"/>
            <p:cNvSpPr/>
            <p:nvPr/>
          </p:nvSpPr>
          <p:spPr>
            <a:xfrm>
              <a:off x="4090409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2" name="Rechteck 61"/>
            <p:cNvSpPr/>
            <p:nvPr/>
          </p:nvSpPr>
          <p:spPr>
            <a:xfrm>
              <a:off x="4364729" y="295101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3" name="Rechteck 62"/>
            <p:cNvSpPr/>
            <p:nvPr/>
          </p:nvSpPr>
          <p:spPr>
            <a:xfrm>
              <a:off x="4639049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4" name="Rechteck 63"/>
            <p:cNvSpPr/>
            <p:nvPr/>
          </p:nvSpPr>
          <p:spPr>
            <a:xfrm>
              <a:off x="4913369" y="267669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5" name="Rechteck 64"/>
            <p:cNvSpPr/>
            <p:nvPr/>
          </p:nvSpPr>
          <p:spPr>
            <a:xfrm>
              <a:off x="5187689" y="240237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1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6" name="Rechteck 65"/>
            <p:cNvSpPr/>
            <p:nvPr/>
          </p:nvSpPr>
          <p:spPr>
            <a:xfrm>
              <a:off x="4913369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7" name="Rechteck 66"/>
            <p:cNvSpPr/>
            <p:nvPr/>
          </p:nvSpPr>
          <p:spPr>
            <a:xfrm>
              <a:off x="5187689" y="3225337"/>
              <a:ext cx="274320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4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8" name="Rechteck 67"/>
            <p:cNvSpPr/>
            <p:nvPr/>
          </p:nvSpPr>
          <p:spPr>
            <a:xfrm>
              <a:off x="5464909" y="2951559"/>
              <a:ext cx="274319" cy="274320"/>
            </a:xfrm>
            <a:prstGeom prst="rect">
              <a:avLst/>
            </a:prstGeom>
            <a:solidFill>
              <a:schemeClr val="tx1"/>
            </a:solidFill>
            <a:ln>
              <a:miter lim="800000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4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69" name="Gerader Verbinder 68"/>
            <p:cNvCxnSpPr/>
            <p:nvPr/>
          </p:nvCxnSpPr>
          <p:spPr>
            <a:xfrm>
              <a:off x="5462009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69"/>
            <p:cNvCxnSpPr/>
            <p:nvPr/>
          </p:nvCxnSpPr>
          <p:spPr>
            <a:xfrm>
              <a:off x="5187689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70"/>
            <p:cNvCxnSpPr/>
            <p:nvPr/>
          </p:nvCxnSpPr>
          <p:spPr>
            <a:xfrm>
              <a:off x="4913369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r Verbinder 71"/>
            <p:cNvCxnSpPr/>
            <p:nvPr/>
          </p:nvCxnSpPr>
          <p:spPr>
            <a:xfrm>
              <a:off x="4090409" y="295101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r Verbinder 72"/>
            <p:cNvCxnSpPr/>
            <p:nvPr/>
          </p:nvCxnSpPr>
          <p:spPr>
            <a:xfrm>
              <a:off x="436472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r Verbinder 73"/>
            <p:cNvCxnSpPr/>
            <p:nvPr/>
          </p:nvCxnSpPr>
          <p:spPr>
            <a:xfrm>
              <a:off x="409040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r Verbinder 74"/>
            <p:cNvCxnSpPr/>
            <p:nvPr/>
          </p:nvCxnSpPr>
          <p:spPr>
            <a:xfrm>
              <a:off x="4639049" y="322533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r Verbinder 75"/>
            <p:cNvCxnSpPr/>
            <p:nvPr/>
          </p:nvCxnSpPr>
          <p:spPr>
            <a:xfrm>
              <a:off x="5187689" y="295101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r Verbinder 76"/>
            <p:cNvCxnSpPr/>
            <p:nvPr/>
          </p:nvCxnSpPr>
          <p:spPr>
            <a:xfrm>
              <a:off x="4090409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r Verbinder 77"/>
            <p:cNvCxnSpPr/>
            <p:nvPr/>
          </p:nvCxnSpPr>
          <p:spPr>
            <a:xfrm>
              <a:off x="4364729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/>
            <p:cNvCxnSpPr/>
            <p:nvPr/>
          </p:nvCxnSpPr>
          <p:spPr>
            <a:xfrm>
              <a:off x="4639049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/>
            <p:cNvCxnSpPr/>
            <p:nvPr/>
          </p:nvCxnSpPr>
          <p:spPr>
            <a:xfrm>
              <a:off x="4081316" y="3224080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/>
            <p:cNvCxnSpPr/>
            <p:nvPr/>
          </p:nvCxnSpPr>
          <p:spPr>
            <a:xfrm>
              <a:off x="4639049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/>
            <p:cNvCxnSpPr/>
            <p:nvPr/>
          </p:nvCxnSpPr>
          <p:spPr>
            <a:xfrm>
              <a:off x="4364729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r Verbinder 82"/>
            <p:cNvCxnSpPr/>
            <p:nvPr/>
          </p:nvCxnSpPr>
          <p:spPr>
            <a:xfrm>
              <a:off x="4364729" y="2402377"/>
              <a:ext cx="83967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r Verbinder 83"/>
            <p:cNvCxnSpPr/>
            <p:nvPr/>
          </p:nvCxnSpPr>
          <p:spPr>
            <a:xfrm>
              <a:off x="4639049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/>
            <p:cNvCxnSpPr/>
            <p:nvPr/>
          </p:nvCxnSpPr>
          <p:spPr>
            <a:xfrm>
              <a:off x="4913369" y="240237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/>
            <p:cNvCxnSpPr/>
            <p:nvPr/>
          </p:nvCxnSpPr>
          <p:spPr>
            <a:xfrm>
              <a:off x="5736603" y="26766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/>
            <p:cNvCxnSpPr/>
            <p:nvPr/>
          </p:nvCxnSpPr>
          <p:spPr>
            <a:xfrm>
              <a:off x="5459108" y="267669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/>
            <p:cNvCxnSpPr/>
            <p:nvPr/>
          </p:nvCxnSpPr>
          <p:spPr>
            <a:xfrm>
              <a:off x="5459108" y="2402377"/>
              <a:ext cx="274320" cy="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/>
            <p:cNvCxnSpPr/>
            <p:nvPr/>
          </p:nvCxnSpPr>
          <p:spPr>
            <a:xfrm>
              <a:off x="5736603" y="2402377"/>
              <a:ext cx="0" cy="274320"/>
            </a:xfrm>
            <a:prstGeom prst="line">
              <a:avLst/>
            </a:prstGeom>
            <a:ln w="2540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/>
            <p:cNvCxnSpPr/>
            <p:nvPr/>
          </p:nvCxnSpPr>
          <p:spPr>
            <a:xfrm>
              <a:off x="5736603" y="322533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/>
            <p:cNvCxnSpPr/>
            <p:nvPr/>
          </p:nvCxnSpPr>
          <p:spPr>
            <a:xfrm>
              <a:off x="5459108" y="3499657"/>
              <a:ext cx="274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" name="Gerade Verbindung mit Pfeil 92"/>
          <p:cNvCxnSpPr/>
          <p:nvPr/>
        </p:nvCxnSpPr>
        <p:spPr>
          <a:xfrm>
            <a:off x="2903744" y="1644331"/>
            <a:ext cx="508837" cy="2053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/>
          <p:cNvCxnSpPr/>
          <p:nvPr/>
        </p:nvCxnSpPr>
        <p:spPr>
          <a:xfrm flipV="1">
            <a:off x="4089228" y="1587704"/>
            <a:ext cx="341461" cy="1986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/>
          <p:cNvCxnSpPr/>
          <p:nvPr/>
        </p:nvCxnSpPr>
        <p:spPr>
          <a:xfrm>
            <a:off x="5606482" y="1603249"/>
            <a:ext cx="3246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/>
          <p:cNvCxnSpPr>
            <a:stCxn id="38" idx="3"/>
            <a:endCxn id="40" idx="1"/>
          </p:cNvCxnSpPr>
          <p:nvPr/>
        </p:nvCxnSpPr>
        <p:spPr>
          <a:xfrm>
            <a:off x="5212556" y="3554821"/>
            <a:ext cx="5562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hteck 101"/>
          <p:cNvSpPr/>
          <p:nvPr/>
        </p:nvSpPr>
        <p:spPr>
          <a:xfrm>
            <a:off x="5768816" y="4062651"/>
            <a:ext cx="1493520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/>
                </a:solidFill>
              </a:rPr>
              <a:t>RAM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3" name="Rechteck 102"/>
          <p:cNvSpPr/>
          <p:nvPr/>
        </p:nvSpPr>
        <p:spPr>
          <a:xfrm>
            <a:off x="5768816" y="3724098"/>
            <a:ext cx="1493520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LU TABLE</a:t>
            </a:r>
            <a:endParaRPr lang="en-US" b="1" dirty="0"/>
          </a:p>
        </p:txBody>
      </p:sp>
      <p:cxnSp>
        <p:nvCxnSpPr>
          <p:cNvPr id="105" name="Gerade Verbindung mit Pfeil 104"/>
          <p:cNvCxnSpPr>
            <a:endCxn id="102" idx="1"/>
          </p:cNvCxnSpPr>
          <p:nvPr/>
        </p:nvCxnSpPr>
        <p:spPr>
          <a:xfrm>
            <a:off x="5212171" y="4231928"/>
            <a:ext cx="5566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/>
          <p:cNvCxnSpPr/>
          <p:nvPr/>
        </p:nvCxnSpPr>
        <p:spPr>
          <a:xfrm>
            <a:off x="1453065" y="3687634"/>
            <a:ext cx="2265201" cy="4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feld 111"/>
          <p:cNvSpPr txBox="1"/>
          <p:nvPr/>
        </p:nvSpPr>
        <p:spPr>
          <a:xfrm>
            <a:off x="944592" y="3502893"/>
            <a:ext cx="50847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PX</a:t>
            </a:r>
            <a:endParaRPr lang="en-US" dirty="0"/>
          </a:p>
        </p:txBody>
      </p:sp>
      <p:sp>
        <p:nvSpPr>
          <p:cNvPr id="113" name="Rechteck 112"/>
          <p:cNvSpPr/>
          <p:nvPr/>
        </p:nvSpPr>
        <p:spPr>
          <a:xfrm>
            <a:off x="1781548" y="3572940"/>
            <a:ext cx="1052514" cy="2394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 smtClean="0"/>
              <a:t>PX BUF</a:t>
            </a:r>
            <a:endParaRPr lang="en-US" dirty="0"/>
          </a:p>
        </p:txBody>
      </p:sp>
      <p:sp>
        <p:nvSpPr>
          <p:cNvPr id="116" name="Trapezoid 115"/>
          <p:cNvSpPr/>
          <p:nvPr/>
        </p:nvSpPr>
        <p:spPr>
          <a:xfrm rot="5400000">
            <a:off x="2958070" y="3818192"/>
            <a:ext cx="677107" cy="150366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0" name="Gerade Verbindung mit Pfeil 119"/>
          <p:cNvCxnSpPr>
            <a:stCxn id="112" idx="3"/>
            <a:endCxn id="113" idx="1"/>
          </p:cNvCxnSpPr>
          <p:nvPr/>
        </p:nvCxnSpPr>
        <p:spPr>
          <a:xfrm flipV="1">
            <a:off x="1453065" y="3692687"/>
            <a:ext cx="328483" cy="25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mit Pfeil 121"/>
          <p:cNvCxnSpPr>
            <a:stCxn id="113" idx="3"/>
          </p:cNvCxnSpPr>
          <p:nvPr/>
        </p:nvCxnSpPr>
        <p:spPr>
          <a:xfrm>
            <a:off x="2834062" y="3692687"/>
            <a:ext cx="386993" cy="25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/>
          <p:cNvCxnSpPr>
            <a:stCxn id="116" idx="0"/>
            <a:endCxn id="37" idx="1"/>
          </p:cNvCxnSpPr>
          <p:nvPr/>
        </p:nvCxnSpPr>
        <p:spPr>
          <a:xfrm flipV="1">
            <a:off x="3371807" y="3893375"/>
            <a:ext cx="34684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winkelte Verbindung 125"/>
          <p:cNvCxnSpPr/>
          <p:nvPr/>
        </p:nvCxnSpPr>
        <p:spPr>
          <a:xfrm>
            <a:off x="1617306" y="3691951"/>
            <a:ext cx="1603749" cy="370700"/>
          </a:xfrm>
          <a:prstGeom prst="bentConnector3">
            <a:avLst>
              <a:gd name="adj1" fmla="val 111"/>
            </a:avLst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hteck 130"/>
          <p:cNvSpPr/>
          <p:nvPr/>
        </p:nvSpPr>
        <p:spPr>
          <a:xfrm>
            <a:off x="6307424" y="1095238"/>
            <a:ext cx="1227711" cy="783113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2" name="Rechteck 131"/>
          <p:cNvSpPr/>
          <p:nvPr/>
        </p:nvSpPr>
        <p:spPr>
          <a:xfrm>
            <a:off x="7045289" y="1622429"/>
            <a:ext cx="731150" cy="519390"/>
          </a:xfrm>
          <a:prstGeom prst="rect">
            <a:avLst/>
          </a:prstGeom>
          <a:solidFill>
            <a:schemeClr val="accent2">
              <a:alpha val="46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3" name="Rechteck 132"/>
          <p:cNvSpPr/>
          <p:nvPr/>
        </p:nvSpPr>
        <p:spPr>
          <a:xfrm>
            <a:off x="5768989" y="4848585"/>
            <a:ext cx="1493520" cy="524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b="1" dirty="0" smtClean="0"/>
              <a:t>BOUNDBOX</a:t>
            </a:r>
            <a:endParaRPr lang="en-US" b="1" dirty="0"/>
          </a:p>
        </p:txBody>
      </p:sp>
      <p:cxnSp>
        <p:nvCxnSpPr>
          <p:cNvPr id="135" name="Gerade Verbindung mit Pfeil 134"/>
          <p:cNvCxnSpPr>
            <a:stCxn id="102" idx="2"/>
            <a:endCxn id="133" idx="0"/>
          </p:cNvCxnSpPr>
          <p:nvPr/>
        </p:nvCxnSpPr>
        <p:spPr>
          <a:xfrm>
            <a:off x="6515576" y="4401205"/>
            <a:ext cx="173" cy="4473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feld 137"/>
          <p:cNvSpPr txBox="1"/>
          <p:nvPr/>
        </p:nvSpPr>
        <p:spPr>
          <a:xfrm>
            <a:off x="7642585" y="4918485"/>
            <a:ext cx="69762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BOX</a:t>
            </a:r>
            <a:endParaRPr lang="en-US" dirty="0"/>
          </a:p>
        </p:txBody>
      </p:sp>
      <p:cxnSp>
        <p:nvCxnSpPr>
          <p:cNvPr id="140" name="Gerade Verbindung mit Pfeil 139"/>
          <p:cNvCxnSpPr>
            <a:stCxn id="133" idx="3"/>
            <a:endCxn id="138" idx="1"/>
          </p:cNvCxnSpPr>
          <p:nvPr/>
        </p:nvCxnSpPr>
        <p:spPr>
          <a:xfrm>
            <a:off x="7262509" y="5110846"/>
            <a:ext cx="3800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hteck 140"/>
          <p:cNvSpPr/>
          <p:nvPr/>
        </p:nvSpPr>
        <p:spPr>
          <a:xfrm>
            <a:off x="1538965" y="2454723"/>
            <a:ext cx="5844540" cy="31774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b="1" dirty="0" smtClean="0"/>
              <a:t>CCL-REF</a:t>
            </a:r>
            <a:endParaRPr lang="en-US" b="1" dirty="0"/>
          </a:p>
        </p:txBody>
      </p:sp>
      <p:sp>
        <p:nvSpPr>
          <p:cNvPr id="150" name="Rechteck 149"/>
          <p:cNvSpPr/>
          <p:nvPr/>
        </p:nvSpPr>
        <p:spPr>
          <a:xfrm>
            <a:off x="1724675" y="2637418"/>
            <a:ext cx="5475937" cy="364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CONTROL UNIT</a:t>
            </a:r>
            <a:endParaRPr lang="en-US" b="1" dirty="0"/>
          </a:p>
        </p:txBody>
      </p:sp>
      <p:cxnSp>
        <p:nvCxnSpPr>
          <p:cNvPr id="152" name="Gerade Verbindung mit Pfeil 151"/>
          <p:cNvCxnSpPr>
            <a:endCxn id="113" idx="0"/>
          </p:cNvCxnSpPr>
          <p:nvPr/>
        </p:nvCxnSpPr>
        <p:spPr>
          <a:xfrm flipH="1">
            <a:off x="2307805" y="3001573"/>
            <a:ext cx="1774" cy="5713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 Verbindung mit Pfeil 156"/>
          <p:cNvCxnSpPr>
            <a:endCxn id="116" idx="1"/>
          </p:cNvCxnSpPr>
          <p:nvPr/>
        </p:nvCxnSpPr>
        <p:spPr>
          <a:xfrm>
            <a:off x="3294092" y="3001573"/>
            <a:ext cx="2532" cy="5720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/>
          <p:cNvCxnSpPr>
            <a:stCxn id="150" idx="2"/>
          </p:cNvCxnSpPr>
          <p:nvPr/>
        </p:nvCxnSpPr>
        <p:spPr>
          <a:xfrm>
            <a:off x="4462644" y="3001573"/>
            <a:ext cx="2390" cy="38397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Gerade Verbindung mit Pfeil 169"/>
          <p:cNvCxnSpPr>
            <a:stCxn id="40" idx="0"/>
          </p:cNvCxnSpPr>
          <p:nvPr/>
        </p:nvCxnSpPr>
        <p:spPr>
          <a:xfrm flipV="1">
            <a:off x="6515576" y="3001573"/>
            <a:ext cx="0" cy="38397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winkelte Verbindung 171"/>
          <p:cNvCxnSpPr>
            <a:endCxn id="133" idx="1"/>
          </p:cNvCxnSpPr>
          <p:nvPr/>
        </p:nvCxnSpPr>
        <p:spPr>
          <a:xfrm rot="16200000" flipH="1">
            <a:off x="4568013" y="3909869"/>
            <a:ext cx="2109273" cy="292679"/>
          </a:xfrm>
          <a:prstGeom prst="bentConnector2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 Verbindung mit Pfeil 174"/>
          <p:cNvCxnSpPr>
            <a:stCxn id="150" idx="3"/>
            <a:endCxn id="176" idx="1"/>
          </p:cNvCxnSpPr>
          <p:nvPr/>
        </p:nvCxnSpPr>
        <p:spPr>
          <a:xfrm flipV="1">
            <a:off x="7200612" y="2818362"/>
            <a:ext cx="441217" cy="11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feld 175"/>
          <p:cNvSpPr txBox="1"/>
          <p:nvPr/>
        </p:nvSpPr>
        <p:spPr>
          <a:xfrm>
            <a:off x="7641829" y="2614585"/>
            <a:ext cx="106471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02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37" grpId="0" animBg="1"/>
      <p:bldP spid="38" grpId="0"/>
      <p:bldP spid="39" grpId="0"/>
      <p:bldP spid="40" grpId="0"/>
      <p:bldP spid="102" grpId="0"/>
      <p:bldP spid="103" grpId="0"/>
      <p:bldP spid="112" grpId="0"/>
      <p:bldP spid="113" grpId="0" animBg="1"/>
      <p:bldP spid="116" grpId="0" animBg="1"/>
      <p:bldP spid="131" grpId="0" animBg="1"/>
      <p:bldP spid="132" grpId="0" animBg="1"/>
      <p:bldP spid="133" grpId="0" animBg="1"/>
      <p:bldP spid="138" grpId="0"/>
      <p:bldP spid="141" grpId="0" animBg="1"/>
      <p:bldP spid="150" grpId="0" animBg="1"/>
      <p:bldP spid="1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</a:t>
            </a:r>
            <a:r>
              <a:rPr lang="de-DE" dirty="0"/>
              <a:t> Design </a:t>
            </a:r>
            <a:r>
              <a:rPr lang="de-DE" dirty="0" smtClean="0"/>
              <a:t>– </a:t>
            </a:r>
            <a:r>
              <a:rPr lang="en-US" dirty="0" smtClean="0"/>
              <a:t>CCL-DUT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55700"/>
            <a:ext cx="7772400" cy="790184"/>
          </a:xfrm>
        </p:spPr>
        <p:txBody>
          <a:bodyPr/>
          <a:lstStyle/>
          <a:p>
            <a:r>
              <a:rPr lang="en-US" dirty="0" smtClean="0"/>
              <a:t>Single-pass </a:t>
            </a:r>
            <a:r>
              <a:rPr lang="en-US" dirty="0"/>
              <a:t>CCL M. </a:t>
            </a:r>
            <a:r>
              <a:rPr lang="en-US" dirty="0" err="1"/>
              <a:t>Klaiber</a:t>
            </a:r>
            <a:r>
              <a:rPr lang="en-US" dirty="0"/>
              <a:t> et </a:t>
            </a:r>
            <a:r>
              <a:rPr lang="en-US" dirty="0" smtClean="0"/>
              <a:t>al. </a:t>
            </a:r>
            <a:r>
              <a:rPr lang="en-US" sz="2000" dirty="0"/>
              <a:t>[KRW+12] </a:t>
            </a:r>
            <a:endParaRPr lang="en-US" sz="2000" dirty="0" smtClean="0"/>
          </a:p>
          <a:p>
            <a:r>
              <a:rPr lang="en-US" dirty="0"/>
              <a:t>Used as a black </a:t>
            </a:r>
            <a:r>
              <a:rPr lang="en-US" dirty="0" smtClean="0"/>
              <a:t>box</a:t>
            </a:r>
            <a:endParaRPr lang="en-US" dirty="0"/>
          </a:p>
        </p:txBody>
      </p:sp>
      <p:sp>
        <p:nvSpPr>
          <p:cNvPr id="4" name="Rechteck 3"/>
          <p:cNvSpPr/>
          <p:nvPr/>
        </p:nvSpPr>
        <p:spPr>
          <a:xfrm>
            <a:off x="2622431" y="2622429"/>
            <a:ext cx="3605841" cy="17339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feld 5"/>
          <p:cNvSpPr txBox="1"/>
          <p:nvPr/>
        </p:nvSpPr>
        <p:spPr>
          <a:xfrm>
            <a:off x="2622431" y="2622429"/>
            <a:ext cx="11516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CLK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2622431" y="2912302"/>
            <a:ext cx="11516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RESET</a:t>
            </a:r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2622431" y="3269409"/>
            <a:ext cx="11516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READY</a:t>
            </a:r>
            <a:endParaRPr lang="en-US" dirty="0"/>
          </a:p>
        </p:txBody>
      </p:sp>
      <p:sp>
        <p:nvSpPr>
          <p:cNvPr id="9" name="Textfeld 8"/>
          <p:cNvSpPr txBox="1"/>
          <p:nvPr/>
        </p:nvSpPr>
        <p:spPr>
          <a:xfrm>
            <a:off x="2622431" y="3531668"/>
            <a:ext cx="138885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PX_VALID</a:t>
            </a: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2622430" y="3821541"/>
            <a:ext cx="148374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PX_VALUE</a:t>
            </a:r>
            <a:endParaRPr lang="en-US" dirty="0"/>
          </a:p>
        </p:txBody>
      </p:sp>
      <p:sp>
        <p:nvSpPr>
          <p:cNvPr id="11" name="Textfeld 10"/>
          <p:cNvSpPr txBox="1"/>
          <p:nvPr/>
        </p:nvSpPr>
        <p:spPr>
          <a:xfrm>
            <a:off x="4554747" y="3269408"/>
            <a:ext cx="16735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BOX_VALID</a:t>
            </a:r>
            <a:endParaRPr lang="en-US" dirty="0"/>
          </a:p>
        </p:txBody>
      </p:sp>
      <p:sp>
        <p:nvSpPr>
          <p:cNvPr id="12" name="Textfeld 11"/>
          <p:cNvSpPr txBox="1"/>
          <p:nvPr/>
        </p:nvSpPr>
        <p:spPr>
          <a:xfrm>
            <a:off x="4554746" y="3531668"/>
            <a:ext cx="16735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BOX_DATA</a:t>
            </a:r>
            <a:endParaRPr lang="en-US" dirty="0"/>
          </a:p>
        </p:txBody>
      </p:sp>
      <p:sp>
        <p:nvSpPr>
          <p:cNvPr id="13" name="Textfeld 12"/>
          <p:cNvSpPr txBox="1"/>
          <p:nvPr/>
        </p:nvSpPr>
        <p:spPr>
          <a:xfrm>
            <a:off x="4554746" y="2631097"/>
            <a:ext cx="16735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ERROR</a:t>
            </a:r>
            <a:endParaRPr lang="en-US" dirty="0"/>
          </a:p>
        </p:txBody>
      </p:sp>
      <p:cxnSp>
        <p:nvCxnSpPr>
          <p:cNvPr id="15" name="Gerade Verbindung mit Pfeil 14"/>
          <p:cNvCxnSpPr>
            <a:stCxn id="13" idx="3"/>
          </p:cNvCxnSpPr>
          <p:nvPr/>
        </p:nvCxnSpPr>
        <p:spPr>
          <a:xfrm flipV="1">
            <a:off x="6228272" y="2823457"/>
            <a:ext cx="56071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/>
          <p:cNvCxnSpPr>
            <a:stCxn id="4" idx="3"/>
          </p:cNvCxnSpPr>
          <p:nvPr/>
        </p:nvCxnSpPr>
        <p:spPr>
          <a:xfrm>
            <a:off x="6228272" y="3489384"/>
            <a:ext cx="5434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/>
          <p:cNvCxnSpPr>
            <a:stCxn id="12" idx="3"/>
          </p:cNvCxnSpPr>
          <p:nvPr/>
        </p:nvCxnSpPr>
        <p:spPr>
          <a:xfrm flipV="1">
            <a:off x="6228272" y="3724028"/>
            <a:ext cx="56071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 flipH="1">
            <a:off x="1846053" y="2823457"/>
            <a:ext cx="77637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 flipH="1">
            <a:off x="1846052" y="3104662"/>
            <a:ext cx="77637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/>
          <p:nvPr/>
        </p:nvCxnSpPr>
        <p:spPr>
          <a:xfrm flipH="1">
            <a:off x="1846051" y="3724028"/>
            <a:ext cx="77637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/>
          <p:nvPr/>
        </p:nvCxnSpPr>
        <p:spPr>
          <a:xfrm flipH="1">
            <a:off x="1846050" y="4013901"/>
            <a:ext cx="77637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/>
          <p:nvPr/>
        </p:nvCxnSpPr>
        <p:spPr>
          <a:xfrm flipH="1">
            <a:off x="1846050" y="3478765"/>
            <a:ext cx="776377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9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</a:t>
            </a:r>
            <a:r>
              <a:rPr lang="de-DE" dirty="0"/>
              <a:t> Design – </a:t>
            </a:r>
            <a:r>
              <a:rPr lang="en-US" dirty="0"/>
              <a:t>Comparator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4 different outputs</a:t>
                </a:r>
              </a:p>
              <a:p>
                <a:pPr marL="914400" lvl="1" indent="-457200" defTabSz="274320">
                  <a:buFont typeface="+mj-lt"/>
                  <a:buAutoNum type="arabicPeriod"/>
                  <a:tabLst>
                    <a:tab pos="0" algn="l"/>
                    <a:tab pos="91440" algn="l"/>
                    <a:tab pos="182880" algn="l"/>
                  </a:tabLst>
                </a:pPr>
                <a:r>
                  <a:rPr lang="en-US" dirty="0" smtClean="0"/>
                  <a:t>NO </a:t>
                </a:r>
                <a:r>
                  <a:rPr lang="en-US" dirty="0"/>
                  <a:t>ERROR</a:t>
                </a:r>
              </a:p>
              <a:p>
                <a:pPr marL="457200" lvl="1" indent="0">
                  <a:buNone/>
                </a:pPr>
                <a:r>
                  <a:rPr lang="en-US" dirty="0" smtClean="0">
                    <a:solidFill>
                      <a:schemeClr val="accent6"/>
                    </a:solidFill>
                  </a:rPr>
                  <a:t>2. + 3. </a:t>
                </a:r>
                <a:r>
                  <a:rPr lang="en-US" dirty="0"/>
                  <a:t>N</a:t>
                </a:r>
                <a:r>
                  <a:rPr lang="en-US" dirty="0" smtClean="0"/>
                  <a:t>umber of Boxes mismatch</a:t>
                </a:r>
              </a:p>
              <a:p>
                <a:pPr marL="457200" lvl="1" indent="0">
                  <a:buNone/>
                </a:pPr>
                <a:r>
                  <a:rPr lang="en-US" dirty="0" smtClean="0">
                    <a:solidFill>
                      <a:schemeClr val="accent6"/>
                    </a:solidFill>
                  </a:rPr>
                  <a:t>4. 	</a:t>
                </a:r>
                <a:r>
                  <a:rPr lang="en-US" dirty="0" smtClean="0"/>
                  <a:t>BOXES CCL-DUT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BOXES CCL-REF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3 approaches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CMP1 : sorting before compare</a:t>
                </a:r>
              </a:p>
              <a:p>
                <a:pPr lvl="2"/>
                <a:r>
                  <a:rPr lang="en-US" sz="1900" dirty="0" smtClean="0">
                    <a:ea typeface="Cambria Math" panose="02040503050406030204" pitchFamily="18" charset="0"/>
                  </a:rPr>
                  <a:t>sorting</a:t>
                </a:r>
                <a:r>
                  <a:rPr lang="de-DE" sz="1900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de-DE" sz="19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DE" sz="19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900" dirty="0" smtClean="0"/>
                  <a:t> + compare</a:t>
                </a:r>
                <a14:m>
                  <m:oMath xmlns:m="http://schemas.openxmlformats.org/officeDocument/2006/math">
                    <m:r>
                      <a:rPr lang="de-DE" sz="19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900" dirty="0" smtClean="0"/>
                  <a:t> =</a:t>
                </a:r>
                <a14:m>
                  <m:oMath xmlns:m="http://schemas.openxmlformats.org/officeDocument/2006/math">
                    <m:r>
                      <a:rPr lang="de-DE" sz="19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de-DE" sz="19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DE" sz="19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900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CMP2: compare all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+…+1=</m:t>
                    </m:r>
                    <m:f>
                      <m:fPr>
                        <m:ctrlP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de-DE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de-DE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CMP3: </a:t>
                </a:r>
                <a:r>
                  <a:rPr lang="en-US" dirty="0"/>
                  <a:t>sorting </a:t>
                </a:r>
                <a:r>
                  <a:rPr lang="en-US" dirty="0" smtClean="0"/>
                  <a:t>while inserting</a:t>
                </a:r>
              </a:p>
              <a:p>
                <a:pPr lvl="2"/>
                <a:r>
                  <a:rPr lang="en-US" sz="1900" dirty="0"/>
                  <a:t>compare</a:t>
                </a:r>
                <a14:m>
                  <m:oMath xmlns:m="http://schemas.openxmlformats.org/officeDocument/2006/math">
                    <m:r>
                      <a:rPr lang="de-DE" sz="19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900" dirty="0" smtClean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27" t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/>
          <p:cNvSpPr txBox="1"/>
          <p:nvPr/>
        </p:nvSpPr>
        <p:spPr>
          <a:xfrm>
            <a:off x="6858000" y="1409700"/>
            <a:ext cx="342900" cy="155427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</a:p>
          <a:p>
            <a:r>
              <a:rPr lang="en-US" dirty="0" smtClean="0"/>
              <a:t>8</a:t>
            </a:r>
          </a:p>
          <a:p>
            <a:r>
              <a:rPr lang="en-US" dirty="0" smtClean="0"/>
              <a:t>9</a:t>
            </a:r>
          </a:p>
          <a:p>
            <a:r>
              <a:rPr lang="en-US" dirty="0" smtClean="0"/>
              <a:t>1</a:t>
            </a:r>
          </a:p>
          <a:p>
            <a:r>
              <a:rPr lang="en-US" dirty="0"/>
              <a:t>4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7848600" y="1409700"/>
            <a:ext cx="342900" cy="155427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</a:p>
          <a:p>
            <a:r>
              <a:rPr lang="en-US" dirty="0" smtClean="0"/>
              <a:t>1</a:t>
            </a:r>
          </a:p>
          <a:p>
            <a:r>
              <a:rPr lang="en-US" dirty="0" smtClean="0"/>
              <a:t>9</a:t>
            </a:r>
          </a:p>
          <a:p>
            <a:r>
              <a:rPr lang="en-US" dirty="0" smtClean="0"/>
              <a:t>8</a:t>
            </a:r>
          </a:p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/>
              <p:cNvSpPr txBox="1"/>
              <p:nvPr/>
            </p:nvSpPr>
            <p:spPr>
              <a:xfrm>
                <a:off x="7258050" y="2044014"/>
                <a:ext cx="647700" cy="2923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feld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050" y="2044014"/>
                <a:ext cx="647700" cy="2923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/>
              <p:cNvSpPr txBox="1"/>
              <p:nvPr/>
            </p:nvSpPr>
            <p:spPr>
              <a:xfrm>
                <a:off x="7258050" y="1909584"/>
                <a:ext cx="647700" cy="2923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feld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050" y="1909584"/>
                <a:ext cx="647700" cy="292388"/>
              </a:xfrm>
              <a:prstGeom prst="rect">
                <a:avLst/>
              </a:prstGeom>
              <a:blipFill rotWithShape="0"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Gerade Verbindung mit Pfeil 8"/>
          <p:cNvCxnSpPr/>
          <p:nvPr/>
        </p:nvCxnSpPr>
        <p:spPr>
          <a:xfrm>
            <a:off x="7124700" y="1600200"/>
            <a:ext cx="7239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7124700" y="1600200"/>
            <a:ext cx="723900" cy="3093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7137400" y="1600200"/>
            <a:ext cx="711200" cy="5866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/>
          <p:nvPr/>
        </p:nvCxnSpPr>
        <p:spPr>
          <a:xfrm>
            <a:off x="7124700" y="1600200"/>
            <a:ext cx="723900" cy="8205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>
            <a:off x="7124700" y="1600200"/>
            <a:ext cx="723900" cy="10745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/>
          <p:nvPr/>
        </p:nvCxnSpPr>
        <p:spPr>
          <a:xfrm>
            <a:off x="6858000" y="1463340"/>
            <a:ext cx="342900" cy="28926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/>
          <p:nvPr/>
        </p:nvCxnSpPr>
        <p:spPr>
          <a:xfrm>
            <a:off x="7848600" y="2638519"/>
            <a:ext cx="342900" cy="28926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/>
          <p:nvPr/>
        </p:nvCxnSpPr>
        <p:spPr>
          <a:xfrm flipV="1">
            <a:off x="7219950" y="1600200"/>
            <a:ext cx="628650" cy="2933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/>
          <p:nvPr/>
        </p:nvCxnSpPr>
        <p:spPr>
          <a:xfrm flipV="1">
            <a:off x="7200900" y="1893518"/>
            <a:ext cx="647700" cy="160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/>
          <p:nvPr/>
        </p:nvCxnSpPr>
        <p:spPr>
          <a:xfrm>
            <a:off x="7219950" y="1909584"/>
            <a:ext cx="628650" cy="292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/>
          <p:nvPr/>
        </p:nvCxnSpPr>
        <p:spPr>
          <a:xfrm>
            <a:off x="7219950" y="1893518"/>
            <a:ext cx="628650" cy="6210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25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</a:t>
            </a:r>
            <a:r>
              <a:rPr lang="de-DE" dirty="0"/>
              <a:t> Design – </a:t>
            </a:r>
            <a:r>
              <a:rPr lang="en-US" dirty="0" smtClean="0"/>
              <a:t>Comparator 2</a:t>
            </a:r>
            <a:endParaRPr lang="en-US" dirty="0"/>
          </a:p>
        </p:txBody>
      </p:sp>
      <p:sp>
        <p:nvSpPr>
          <p:cNvPr id="4" name="Rechteck 3"/>
          <p:cNvSpPr/>
          <p:nvPr/>
        </p:nvSpPr>
        <p:spPr>
          <a:xfrm>
            <a:off x="3036498" y="1778607"/>
            <a:ext cx="2518913" cy="113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b="1" dirty="0" smtClean="0"/>
              <a:t>RAM</a:t>
            </a:r>
            <a:endParaRPr lang="en-US" b="1" dirty="0"/>
          </a:p>
        </p:txBody>
      </p:sp>
      <p:sp>
        <p:nvSpPr>
          <p:cNvPr id="5" name="Textfeld 4"/>
          <p:cNvSpPr txBox="1"/>
          <p:nvPr/>
        </p:nvSpPr>
        <p:spPr>
          <a:xfrm>
            <a:off x="3036498" y="1778607"/>
            <a:ext cx="122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DATA_IN</a:t>
            </a:r>
            <a:endParaRPr lang="en-US" sz="1600" dirty="0"/>
          </a:p>
        </p:txBody>
      </p:sp>
      <p:sp>
        <p:nvSpPr>
          <p:cNvPr id="6" name="Textfeld 5"/>
          <p:cNvSpPr txBox="1"/>
          <p:nvPr/>
        </p:nvSpPr>
        <p:spPr>
          <a:xfrm>
            <a:off x="3036498" y="2117161"/>
            <a:ext cx="122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IN_ADR</a:t>
            </a:r>
            <a:endParaRPr lang="en-US" sz="1600" dirty="0"/>
          </a:p>
        </p:txBody>
      </p:sp>
      <p:sp>
        <p:nvSpPr>
          <p:cNvPr id="7" name="Textfeld 6"/>
          <p:cNvSpPr txBox="1"/>
          <p:nvPr/>
        </p:nvSpPr>
        <p:spPr>
          <a:xfrm>
            <a:off x="4261448" y="1789358"/>
            <a:ext cx="1293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DATA_OUT</a:t>
            </a:r>
            <a:endParaRPr lang="en-US" sz="1600" dirty="0"/>
          </a:p>
        </p:txBody>
      </p:sp>
      <p:sp>
        <p:nvSpPr>
          <p:cNvPr id="8" name="Textfeld 7"/>
          <p:cNvSpPr txBox="1"/>
          <p:nvPr/>
        </p:nvSpPr>
        <p:spPr>
          <a:xfrm>
            <a:off x="4261447" y="2111786"/>
            <a:ext cx="1293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OUT_ADR</a:t>
            </a:r>
            <a:endParaRPr lang="en-US" sz="1600" dirty="0"/>
          </a:p>
        </p:txBody>
      </p:sp>
      <p:sp>
        <p:nvSpPr>
          <p:cNvPr id="9" name="Rechteck 8"/>
          <p:cNvSpPr/>
          <p:nvPr/>
        </p:nvSpPr>
        <p:spPr>
          <a:xfrm>
            <a:off x="1742535" y="2152230"/>
            <a:ext cx="1104181" cy="25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ADR CNT</a:t>
            </a:r>
            <a:endParaRPr lang="en-US" sz="1600" dirty="0"/>
          </a:p>
        </p:txBody>
      </p:sp>
      <p:sp>
        <p:nvSpPr>
          <p:cNvPr id="10" name="Textfeld 9"/>
          <p:cNvSpPr txBox="1"/>
          <p:nvPr/>
        </p:nvSpPr>
        <p:spPr>
          <a:xfrm>
            <a:off x="207036" y="1778607"/>
            <a:ext cx="1095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IN_REF</a:t>
            </a:r>
            <a:endParaRPr lang="en-US" sz="1600" dirty="0"/>
          </a:p>
        </p:txBody>
      </p:sp>
      <p:cxnSp>
        <p:nvCxnSpPr>
          <p:cNvPr id="12" name="Gerade Verbindung mit Pfeil 11"/>
          <p:cNvCxnSpPr>
            <a:stCxn id="10" idx="3"/>
          </p:cNvCxnSpPr>
          <p:nvPr/>
        </p:nvCxnSpPr>
        <p:spPr>
          <a:xfrm>
            <a:off x="1302589" y="1947884"/>
            <a:ext cx="1733909" cy="1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winkelte Verbindung 13"/>
          <p:cNvCxnSpPr>
            <a:endCxn id="9" idx="1"/>
          </p:cNvCxnSpPr>
          <p:nvPr/>
        </p:nvCxnSpPr>
        <p:spPr>
          <a:xfrm rot="16200000" flipH="1">
            <a:off x="1489682" y="2028209"/>
            <a:ext cx="333179" cy="172527"/>
          </a:xfrm>
          <a:prstGeom prst="bentConnector2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>
            <a:stCxn id="9" idx="3"/>
            <a:endCxn id="6" idx="1"/>
          </p:cNvCxnSpPr>
          <p:nvPr/>
        </p:nvCxnSpPr>
        <p:spPr>
          <a:xfrm>
            <a:off x="2846716" y="2281063"/>
            <a:ext cx="189782" cy="5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/>
          <p:cNvSpPr/>
          <p:nvPr/>
        </p:nvSpPr>
        <p:spPr>
          <a:xfrm>
            <a:off x="5745193" y="2152229"/>
            <a:ext cx="1104181" cy="25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ADR CNT</a:t>
            </a:r>
            <a:endParaRPr lang="en-US" sz="1600" dirty="0"/>
          </a:p>
        </p:txBody>
      </p:sp>
      <p:cxnSp>
        <p:nvCxnSpPr>
          <p:cNvPr id="19" name="Gerade Verbindung mit Pfeil 18"/>
          <p:cNvCxnSpPr>
            <a:stCxn id="17" idx="1"/>
            <a:endCxn id="8" idx="3"/>
          </p:cNvCxnSpPr>
          <p:nvPr/>
        </p:nvCxnSpPr>
        <p:spPr>
          <a:xfrm flipH="1">
            <a:off x="5555410" y="2281062"/>
            <a:ext cx="189783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/>
          <p:cNvSpPr/>
          <p:nvPr/>
        </p:nvSpPr>
        <p:spPr>
          <a:xfrm>
            <a:off x="6185141" y="4078984"/>
            <a:ext cx="2027207" cy="113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CONTROL-UNIT</a:t>
            </a:r>
            <a:endParaRPr lang="en-US" b="1" dirty="0"/>
          </a:p>
        </p:txBody>
      </p:sp>
      <p:sp>
        <p:nvSpPr>
          <p:cNvPr id="21" name="Rechteck 20"/>
          <p:cNvSpPr/>
          <p:nvPr/>
        </p:nvSpPr>
        <p:spPr>
          <a:xfrm>
            <a:off x="3036497" y="3213153"/>
            <a:ext cx="2518913" cy="1130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b="1" dirty="0" smtClean="0"/>
              <a:t>FIFO</a:t>
            </a:r>
            <a:endParaRPr lang="en-US" b="1" dirty="0"/>
          </a:p>
        </p:txBody>
      </p:sp>
      <p:sp>
        <p:nvSpPr>
          <p:cNvPr id="22" name="Textfeld 21"/>
          <p:cNvSpPr txBox="1"/>
          <p:nvPr/>
        </p:nvSpPr>
        <p:spPr>
          <a:xfrm>
            <a:off x="3036497" y="3213153"/>
            <a:ext cx="122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DATA_IN</a:t>
            </a:r>
            <a:endParaRPr lang="en-US" sz="1600" dirty="0"/>
          </a:p>
        </p:txBody>
      </p:sp>
      <p:sp>
        <p:nvSpPr>
          <p:cNvPr id="23" name="Textfeld 22"/>
          <p:cNvSpPr txBox="1"/>
          <p:nvPr/>
        </p:nvSpPr>
        <p:spPr>
          <a:xfrm>
            <a:off x="4261446" y="3210686"/>
            <a:ext cx="1293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DATA_OUT</a:t>
            </a:r>
            <a:endParaRPr lang="en-US" sz="1600" dirty="0"/>
          </a:p>
        </p:txBody>
      </p:sp>
      <p:sp>
        <p:nvSpPr>
          <p:cNvPr id="24" name="Textfeld 23"/>
          <p:cNvSpPr txBox="1"/>
          <p:nvPr/>
        </p:nvSpPr>
        <p:spPr>
          <a:xfrm>
            <a:off x="4261445" y="3479454"/>
            <a:ext cx="1293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READ</a:t>
            </a:r>
            <a:endParaRPr lang="en-US" sz="1600" dirty="0"/>
          </a:p>
        </p:txBody>
      </p:sp>
      <p:sp>
        <p:nvSpPr>
          <p:cNvPr id="25" name="Textfeld 24"/>
          <p:cNvSpPr txBox="1"/>
          <p:nvPr/>
        </p:nvSpPr>
        <p:spPr>
          <a:xfrm>
            <a:off x="4261445" y="3775716"/>
            <a:ext cx="1293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FILL LVL</a:t>
            </a:r>
            <a:endParaRPr lang="en-US" sz="1600" dirty="0"/>
          </a:p>
        </p:txBody>
      </p:sp>
      <p:sp>
        <p:nvSpPr>
          <p:cNvPr id="26" name="Textfeld 25"/>
          <p:cNvSpPr txBox="1"/>
          <p:nvPr/>
        </p:nvSpPr>
        <p:spPr>
          <a:xfrm>
            <a:off x="207033" y="3214375"/>
            <a:ext cx="1095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IN_DUT</a:t>
            </a:r>
            <a:endParaRPr lang="en-US" sz="1600" dirty="0"/>
          </a:p>
        </p:txBody>
      </p:sp>
      <p:cxnSp>
        <p:nvCxnSpPr>
          <p:cNvPr id="27" name="Gerade Verbindung mit Pfeil 26"/>
          <p:cNvCxnSpPr>
            <a:stCxn id="26" idx="3"/>
          </p:cNvCxnSpPr>
          <p:nvPr/>
        </p:nvCxnSpPr>
        <p:spPr>
          <a:xfrm>
            <a:off x="1302589" y="3383652"/>
            <a:ext cx="1733906" cy="1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207033" y="4797138"/>
            <a:ext cx="1095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LAST_IN</a:t>
            </a:r>
            <a:endParaRPr lang="en-US" sz="1600" dirty="0"/>
          </a:p>
        </p:txBody>
      </p:sp>
      <p:cxnSp>
        <p:nvCxnSpPr>
          <p:cNvPr id="29" name="Gerade Verbindung mit Pfeil 28"/>
          <p:cNvCxnSpPr>
            <a:stCxn id="28" idx="3"/>
          </p:cNvCxnSpPr>
          <p:nvPr/>
        </p:nvCxnSpPr>
        <p:spPr>
          <a:xfrm>
            <a:off x="1302589" y="4966415"/>
            <a:ext cx="4882552" cy="85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winkelte Verbindung 31"/>
          <p:cNvCxnSpPr>
            <a:stCxn id="25" idx="3"/>
            <a:endCxn id="20" idx="1"/>
          </p:cNvCxnSpPr>
          <p:nvPr/>
        </p:nvCxnSpPr>
        <p:spPr>
          <a:xfrm>
            <a:off x="5555408" y="3944993"/>
            <a:ext cx="629733" cy="699021"/>
          </a:xfrm>
          <a:prstGeom prst="bentConnector3">
            <a:avLst>
              <a:gd name="adj1" fmla="val 3356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/>
          <p:cNvSpPr txBox="1"/>
          <p:nvPr/>
        </p:nvSpPr>
        <p:spPr>
          <a:xfrm>
            <a:off x="6185141" y="4114270"/>
            <a:ext cx="3278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endParaRPr lang="en-US" dirty="0"/>
          </a:p>
        </p:txBody>
      </p:sp>
      <p:cxnSp>
        <p:nvCxnSpPr>
          <p:cNvPr id="40" name="Gewinkelte Verbindung 39"/>
          <p:cNvCxnSpPr>
            <a:stCxn id="38" idx="1"/>
            <a:endCxn id="24" idx="3"/>
          </p:cNvCxnSpPr>
          <p:nvPr/>
        </p:nvCxnSpPr>
        <p:spPr>
          <a:xfrm rot="10800000">
            <a:off x="5555409" y="3648731"/>
            <a:ext cx="629733" cy="657900"/>
          </a:xfrm>
          <a:prstGeom prst="bentConnector3">
            <a:avLst>
              <a:gd name="adj1" fmla="val 3630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Gleichschenkliges Dreieck 41"/>
          <p:cNvSpPr/>
          <p:nvPr/>
        </p:nvSpPr>
        <p:spPr>
          <a:xfrm rot="5400000">
            <a:off x="7293852" y="2488942"/>
            <a:ext cx="573440" cy="46992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Gewinkelte Verbindung 43"/>
          <p:cNvCxnSpPr/>
          <p:nvPr/>
        </p:nvCxnSpPr>
        <p:spPr>
          <a:xfrm>
            <a:off x="5555408" y="1947883"/>
            <a:ext cx="1790203" cy="638728"/>
          </a:xfrm>
          <a:prstGeom prst="bentConnector3">
            <a:avLst>
              <a:gd name="adj1" fmla="val 9095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winkelte Verbindung 47"/>
          <p:cNvCxnSpPr/>
          <p:nvPr/>
        </p:nvCxnSpPr>
        <p:spPr>
          <a:xfrm flipV="1">
            <a:off x="5555408" y="2865384"/>
            <a:ext cx="1790203" cy="519954"/>
          </a:xfrm>
          <a:prstGeom prst="bentConnector3">
            <a:avLst>
              <a:gd name="adj1" fmla="val 8999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winkelte Verbindung 50"/>
          <p:cNvCxnSpPr>
            <a:stCxn id="42" idx="0"/>
          </p:cNvCxnSpPr>
          <p:nvPr/>
        </p:nvCxnSpPr>
        <p:spPr>
          <a:xfrm>
            <a:off x="7815532" y="2723902"/>
            <a:ext cx="207034" cy="135508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winkelte Verbindung 54"/>
          <p:cNvCxnSpPr>
            <a:stCxn id="17" idx="3"/>
          </p:cNvCxnSpPr>
          <p:nvPr/>
        </p:nvCxnSpPr>
        <p:spPr>
          <a:xfrm>
            <a:off x="6849374" y="2281062"/>
            <a:ext cx="155275" cy="1797922"/>
          </a:xfrm>
          <a:prstGeom prst="bentConnector2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9" idx="2"/>
          </p:cNvCxnSpPr>
          <p:nvPr/>
        </p:nvCxnSpPr>
        <p:spPr>
          <a:xfrm rot="16200000" flipH="1">
            <a:off x="3046262" y="1658259"/>
            <a:ext cx="2387242" cy="389051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stCxn id="20" idx="3"/>
          </p:cNvCxnSpPr>
          <p:nvPr/>
        </p:nvCxnSpPr>
        <p:spPr>
          <a:xfrm>
            <a:off x="8212348" y="4644014"/>
            <a:ext cx="4571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hteck 59"/>
          <p:cNvSpPr/>
          <p:nvPr/>
        </p:nvSpPr>
        <p:spPr>
          <a:xfrm>
            <a:off x="1431983" y="1423358"/>
            <a:ext cx="6952892" cy="401128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b="1" dirty="0" smtClean="0"/>
              <a:t>COMPARATOR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104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</a:t>
            </a:r>
            <a:r>
              <a:rPr lang="de-DE" dirty="0"/>
              <a:t> Design – </a:t>
            </a:r>
            <a:r>
              <a:rPr lang="en-US" dirty="0" smtClean="0"/>
              <a:t>Verifier</a:t>
            </a:r>
            <a:r>
              <a:rPr lang="de-DE" dirty="0" smtClean="0"/>
              <a:t> </a:t>
            </a:r>
            <a:r>
              <a:rPr lang="en-US" dirty="0"/>
              <a:t>Architecture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927217" y="2269128"/>
            <a:ext cx="1369522" cy="507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STIM-GEN</a:t>
            </a:r>
            <a:endParaRPr lang="en-US" dirty="0"/>
          </a:p>
        </p:txBody>
      </p:sp>
      <p:sp>
        <p:nvSpPr>
          <p:cNvPr id="42" name="Rechteck 41"/>
          <p:cNvSpPr/>
          <p:nvPr/>
        </p:nvSpPr>
        <p:spPr>
          <a:xfrm>
            <a:off x="7407293" y="2362519"/>
            <a:ext cx="845389" cy="316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FIFO</a:t>
            </a:r>
            <a:endParaRPr lang="en-US" dirty="0"/>
          </a:p>
        </p:txBody>
      </p:sp>
      <p:grpSp>
        <p:nvGrpSpPr>
          <p:cNvPr id="14" name="Gruppieren 13"/>
          <p:cNvGrpSpPr/>
          <p:nvPr/>
        </p:nvGrpSpPr>
        <p:grpSpPr>
          <a:xfrm>
            <a:off x="2296739" y="1518249"/>
            <a:ext cx="5110554" cy="2057121"/>
            <a:chOff x="2296739" y="1518249"/>
            <a:chExt cx="5110554" cy="2057121"/>
          </a:xfrm>
        </p:grpSpPr>
        <p:sp>
          <p:nvSpPr>
            <p:cNvPr id="4" name="Rechteck 3"/>
            <p:cNvSpPr/>
            <p:nvPr/>
          </p:nvSpPr>
          <p:spPr>
            <a:xfrm>
              <a:off x="4579625" y="1927060"/>
              <a:ext cx="2078181" cy="1191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COMPARATOR</a:t>
              </a:r>
              <a:endParaRPr lang="en-US" dirty="0"/>
            </a:p>
          </p:txBody>
        </p:sp>
        <p:sp>
          <p:nvSpPr>
            <p:cNvPr id="5" name="Rechteck 4"/>
            <p:cNvSpPr/>
            <p:nvPr/>
          </p:nvSpPr>
          <p:spPr>
            <a:xfrm>
              <a:off x="2804856" y="1931216"/>
              <a:ext cx="1350818" cy="507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CCL-DUT</a:t>
              </a:r>
              <a:endParaRPr lang="en-US" dirty="0"/>
            </a:p>
          </p:txBody>
        </p:sp>
        <p:sp>
          <p:nvSpPr>
            <p:cNvPr id="6" name="Rechteck 5"/>
            <p:cNvSpPr/>
            <p:nvPr/>
          </p:nvSpPr>
          <p:spPr>
            <a:xfrm>
              <a:off x="2796542" y="2611196"/>
              <a:ext cx="1350818" cy="507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CCL-REF</a:t>
              </a:r>
              <a:endParaRPr lang="en-US" dirty="0"/>
            </a:p>
          </p:txBody>
        </p:sp>
        <p:cxnSp>
          <p:nvCxnSpPr>
            <p:cNvPr id="8" name="Gerader Verbinder 7"/>
            <p:cNvCxnSpPr>
              <a:stCxn id="7" idx="3"/>
            </p:cNvCxnSpPr>
            <p:nvPr/>
          </p:nvCxnSpPr>
          <p:spPr>
            <a:xfrm>
              <a:off x="2296739" y="2522666"/>
              <a:ext cx="25405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winkelte Verbindung 8"/>
            <p:cNvCxnSpPr>
              <a:endCxn id="5" idx="1"/>
            </p:cNvCxnSpPr>
            <p:nvPr/>
          </p:nvCxnSpPr>
          <p:spPr>
            <a:xfrm rot="5400000" flipH="1" flipV="1">
              <a:off x="2508870" y="2226681"/>
              <a:ext cx="337912" cy="25405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winkelte Verbindung 9"/>
            <p:cNvCxnSpPr>
              <a:endCxn id="6" idx="1"/>
            </p:cNvCxnSpPr>
            <p:nvPr/>
          </p:nvCxnSpPr>
          <p:spPr>
            <a:xfrm rot="16200000" flipH="1">
              <a:off x="2502635" y="2570827"/>
              <a:ext cx="342068" cy="245746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/>
            <p:cNvCxnSpPr>
              <a:stCxn id="5" idx="3"/>
            </p:cNvCxnSpPr>
            <p:nvPr/>
          </p:nvCxnSpPr>
          <p:spPr>
            <a:xfrm>
              <a:off x="4155674" y="2184754"/>
              <a:ext cx="423951" cy="6755"/>
            </a:xfrm>
            <a:prstGeom prst="straightConnector1">
              <a:avLst/>
            </a:prstGeom>
            <a:ln w="19050">
              <a:solidFill>
                <a:srgbClr val="00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/>
            <p:cNvCxnSpPr>
              <a:stCxn id="6" idx="3"/>
            </p:cNvCxnSpPr>
            <p:nvPr/>
          </p:nvCxnSpPr>
          <p:spPr>
            <a:xfrm flipV="1">
              <a:off x="4147360" y="2864733"/>
              <a:ext cx="432265" cy="1"/>
            </a:xfrm>
            <a:prstGeom prst="straightConnector1">
              <a:avLst/>
            </a:prstGeom>
            <a:ln w="19050">
              <a:solidFill>
                <a:srgbClr val="00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/>
            <p:cNvCxnSpPr>
              <a:stCxn id="4" idx="3"/>
              <a:endCxn id="16" idx="2"/>
            </p:cNvCxnSpPr>
            <p:nvPr/>
          </p:nvCxnSpPr>
          <p:spPr>
            <a:xfrm flipV="1">
              <a:off x="6657806" y="2518725"/>
              <a:ext cx="245108" cy="3941"/>
            </a:xfrm>
            <a:prstGeom prst="straightConnector1">
              <a:avLst/>
            </a:prstGeom>
            <a:ln w="19050">
              <a:solidFill>
                <a:srgbClr val="FC92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lipse 15"/>
            <p:cNvSpPr/>
            <p:nvPr/>
          </p:nvSpPr>
          <p:spPr>
            <a:xfrm>
              <a:off x="6902914" y="2392508"/>
              <a:ext cx="259271" cy="2524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b="1" dirty="0" smtClean="0"/>
                <a:t>U</a:t>
              </a:r>
              <a:endParaRPr lang="en-US" sz="1100" b="1" dirty="0"/>
            </a:p>
          </p:txBody>
        </p:sp>
        <p:cxnSp>
          <p:nvCxnSpPr>
            <p:cNvPr id="20" name="Gewinkelte Verbindung 19"/>
            <p:cNvCxnSpPr/>
            <p:nvPr/>
          </p:nvCxnSpPr>
          <p:spPr>
            <a:xfrm flipV="1">
              <a:off x="4147360" y="1773064"/>
              <a:ext cx="432265" cy="219638"/>
            </a:xfrm>
            <a:prstGeom prst="bentConnector3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winkelte Verbindung 21"/>
            <p:cNvCxnSpPr>
              <a:endCxn id="16" idx="0"/>
            </p:cNvCxnSpPr>
            <p:nvPr/>
          </p:nvCxnSpPr>
          <p:spPr>
            <a:xfrm>
              <a:off x="4579625" y="1773064"/>
              <a:ext cx="2452925" cy="61944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winkelte Verbindung 23"/>
            <p:cNvCxnSpPr/>
            <p:nvPr/>
          </p:nvCxnSpPr>
          <p:spPr>
            <a:xfrm>
              <a:off x="4147360" y="3010619"/>
              <a:ext cx="347002" cy="28055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winkelte Verbindung 26"/>
            <p:cNvCxnSpPr>
              <a:endCxn id="16" idx="4"/>
            </p:cNvCxnSpPr>
            <p:nvPr/>
          </p:nvCxnSpPr>
          <p:spPr>
            <a:xfrm flipV="1">
              <a:off x="4494362" y="2644941"/>
              <a:ext cx="2538188" cy="64623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/>
            <p:cNvCxnSpPr>
              <a:stCxn id="16" idx="6"/>
              <a:endCxn id="42" idx="1"/>
            </p:cNvCxnSpPr>
            <p:nvPr/>
          </p:nvCxnSpPr>
          <p:spPr>
            <a:xfrm>
              <a:off x="7162185" y="2518725"/>
              <a:ext cx="245108" cy="18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hteck 44"/>
            <p:cNvSpPr/>
            <p:nvPr/>
          </p:nvSpPr>
          <p:spPr>
            <a:xfrm>
              <a:off x="2458528" y="1518249"/>
              <a:ext cx="4787662" cy="20571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VERIFIER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8" name="Gerade Verbindung mit Pfeil 47"/>
          <p:cNvCxnSpPr>
            <a:stCxn id="7" idx="2"/>
            <a:endCxn id="46" idx="0"/>
          </p:cNvCxnSpPr>
          <p:nvPr/>
        </p:nvCxnSpPr>
        <p:spPr>
          <a:xfrm>
            <a:off x="1611978" y="2776204"/>
            <a:ext cx="0" cy="95265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winkelte Verbindung 72"/>
          <p:cNvCxnSpPr>
            <a:stCxn id="42" idx="3"/>
          </p:cNvCxnSpPr>
          <p:nvPr/>
        </p:nvCxnSpPr>
        <p:spPr>
          <a:xfrm flipH="1">
            <a:off x="2296739" y="2520612"/>
            <a:ext cx="5955943" cy="1309516"/>
          </a:xfrm>
          <a:prstGeom prst="bentConnector3">
            <a:avLst>
              <a:gd name="adj1" fmla="val -2679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pieren 14"/>
          <p:cNvGrpSpPr/>
          <p:nvPr/>
        </p:nvGrpSpPr>
        <p:grpSpPr>
          <a:xfrm>
            <a:off x="685801" y="1319842"/>
            <a:ext cx="8156274" cy="3812875"/>
            <a:chOff x="685801" y="1319842"/>
            <a:chExt cx="8156274" cy="3812875"/>
          </a:xfrm>
        </p:grpSpPr>
        <p:sp>
          <p:nvSpPr>
            <p:cNvPr id="46" name="Rechteck 45"/>
            <p:cNvSpPr/>
            <p:nvPr/>
          </p:nvSpPr>
          <p:spPr>
            <a:xfrm>
              <a:off x="927217" y="3728861"/>
              <a:ext cx="1369522" cy="9552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COM-CONTROL</a:t>
              </a:r>
              <a:endParaRPr lang="en-US" dirty="0"/>
            </a:p>
          </p:txBody>
        </p:sp>
        <p:sp>
          <p:nvSpPr>
            <p:cNvPr id="49" name="Rechteck 48"/>
            <p:cNvSpPr/>
            <p:nvPr/>
          </p:nvSpPr>
          <p:spPr>
            <a:xfrm>
              <a:off x="2550796" y="3945135"/>
              <a:ext cx="1369522" cy="2718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UDP-ENC</a:t>
              </a:r>
              <a:endParaRPr lang="en-US" dirty="0"/>
            </a:p>
          </p:txBody>
        </p:sp>
        <p:sp>
          <p:nvSpPr>
            <p:cNvPr id="50" name="Rechteck 49"/>
            <p:cNvSpPr/>
            <p:nvPr/>
          </p:nvSpPr>
          <p:spPr>
            <a:xfrm>
              <a:off x="2550796" y="4412243"/>
              <a:ext cx="1369522" cy="2718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UDP-DEC</a:t>
              </a:r>
              <a:endParaRPr lang="en-US" dirty="0"/>
            </a:p>
          </p:txBody>
        </p:sp>
        <p:cxnSp>
          <p:nvCxnSpPr>
            <p:cNvPr id="52" name="Gerade Verbindung mit Pfeil 51"/>
            <p:cNvCxnSpPr>
              <a:stCxn id="49" idx="1"/>
            </p:cNvCxnSpPr>
            <p:nvPr/>
          </p:nvCxnSpPr>
          <p:spPr>
            <a:xfrm flipH="1" flipV="1">
              <a:off x="2296739" y="4081084"/>
              <a:ext cx="254057" cy="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/>
            <p:cNvCxnSpPr>
              <a:stCxn id="50" idx="1"/>
            </p:cNvCxnSpPr>
            <p:nvPr/>
          </p:nvCxnSpPr>
          <p:spPr>
            <a:xfrm flipH="1" flipV="1">
              <a:off x="2296739" y="4548192"/>
              <a:ext cx="254057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hteck 54"/>
            <p:cNvSpPr/>
            <p:nvPr/>
          </p:nvSpPr>
          <p:spPr>
            <a:xfrm>
              <a:off x="4177009" y="3934606"/>
              <a:ext cx="1629078" cy="7495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UDP/IP-Core</a:t>
              </a:r>
              <a:endParaRPr lang="en-US" dirty="0"/>
            </a:p>
          </p:txBody>
        </p:sp>
        <p:sp>
          <p:nvSpPr>
            <p:cNvPr id="56" name="Rechteck 55"/>
            <p:cNvSpPr/>
            <p:nvPr/>
          </p:nvSpPr>
          <p:spPr>
            <a:xfrm>
              <a:off x="6062778" y="3929600"/>
              <a:ext cx="1629078" cy="7495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ETHERNET-MAC</a:t>
              </a:r>
              <a:endParaRPr lang="en-US" dirty="0"/>
            </a:p>
          </p:txBody>
        </p:sp>
        <p:cxnSp>
          <p:nvCxnSpPr>
            <p:cNvPr id="58" name="Gerade Verbindung mit Pfeil 57"/>
            <p:cNvCxnSpPr>
              <a:stCxn id="49" idx="3"/>
            </p:cNvCxnSpPr>
            <p:nvPr/>
          </p:nvCxnSpPr>
          <p:spPr>
            <a:xfrm flipV="1">
              <a:off x="3920318" y="4081084"/>
              <a:ext cx="254057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/>
            <p:cNvCxnSpPr>
              <a:stCxn id="50" idx="3"/>
            </p:cNvCxnSpPr>
            <p:nvPr/>
          </p:nvCxnSpPr>
          <p:spPr>
            <a:xfrm flipV="1">
              <a:off x="3920318" y="4548192"/>
              <a:ext cx="254057" cy="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mit Pfeil 61"/>
            <p:cNvCxnSpPr>
              <a:stCxn id="55" idx="3"/>
              <a:endCxn id="56" idx="1"/>
            </p:cNvCxnSpPr>
            <p:nvPr/>
          </p:nvCxnSpPr>
          <p:spPr>
            <a:xfrm flipV="1">
              <a:off x="5806087" y="4304370"/>
              <a:ext cx="256691" cy="500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/>
            <p:cNvCxnSpPr>
              <a:stCxn id="56" idx="3"/>
            </p:cNvCxnSpPr>
            <p:nvPr/>
          </p:nvCxnSpPr>
          <p:spPr>
            <a:xfrm>
              <a:off x="7691856" y="4304370"/>
              <a:ext cx="115021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hteck 75"/>
            <p:cNvSpPr/>
            <p:nvPr/>
          </p:nvSpPr>
          <p:spPr>
            <a:xfrm>
              <a:off x="685801" y="1319842"/>
              <a:ext cx="7871604" cy="38128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TOP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Rechteck 2"/>
          <p:cNvSpPr/>
          <p:nvPr/>
        </p:nvSpPr>
        <p:spPr>
          <a:xfrm>
            <a:off x="4038600" y="5247724"/>
            <a:ext cx="4518805" cy="848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Gerader Verbinder 17"/>
          <p:cNvCxnSpPr/>
          <p:nvPr/>
        </p:nvCxnSpPr>
        <p:spPr>
          <a:xfrm>
            <a:off x="4152900" y="5448300"/>
            <a:ext cx="400638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/>
          <p:cNvCxnSpPr/>
          <p:nvPr/>
        </p:nvCxnSpPr>
        <p:spPr>
          <a:xfrm>
            <a:off x="4152900" y="5829300"/>
            <a:ext cx="400638" cy="0"/>
          </a:xfrm>
          <a:prstGeom prst="line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/>
          <p:cNvCxnSpPr/>
          <p:nvPr/>
        </p:nvCxnSpPr>
        <p:spPr>
          <a:xfrm>
            <a:off x="6647862" y="5448300"/>
            <a:ext cx="400638" cy="0"/>
          </a:xfrm>
          <a:prstGeom prst="line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>
            <a:off x="4572000" y="5257800"/>
            <a:ext cx="195867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Internal Error</a:t>
            </a:r>
            <a:endParaRPr lang="en-US" dirty="0"/>
          </a:p>
        </p:txBody>
      </p:sp>
      <p:sp>
        <p:nvSpPr>
          <p:cNvPr id="43" name="Textfeld 42"/>
          <p:cNvSpPr txBox="1"/>
          <p:nvPr/>
        </p:nvSpPr>
        <p:spPr>
          <a:xfrm>
            <a:off x="4572000" y="5635079"/>
            <a:ext cx="1828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Bounding Box</a:t>
            </a:r>
            <a:endParaRPr lang="en-US" dirty="0"/>
          </a:p>
        </p:txBody>
      </p:sp>
      <p:sp>
        <p:nvSpPr>
          <p:cNvPr id="47" name="Textfeld 46"/>
          <p:cNvSpPr txBox="1"/>
          <p:nvPr/>
        </p:nvSpPr>
        <p:spPr>
          <a:xfrm>
            <a:off x="7048500" y="5263432"/>
            <a:ext cx="143163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CMP 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1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erader Verbinder 66"/>
          <p:cNvCxnSpPr/>
          <p:nvPr/>
        </p:nvCxnSpPr>
        <p:spPr>
          <a:xfrm flipH="1" flipV="1">
            <a:off x="1341120" y="3483665"/>
            <a:ext cx="640080" cy="90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hteck 68"/>
          <p:cNvSpPr/>
          <p:nvPr/>
        </p:nvSpPr>
        <p:spPr>
          <a:xfrm>
            <a:off x="1972169" y="2451567"/>
            <a:ext cx="5266831" cy="2082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1676400" y="2756367"/>
            <a:ext cx="5266831" cy="20823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cxnSp>
        <p:nvCxnSpPr>
          <p:cNvPr id="65" name="Gerader Verbinder 64"/>
          <p:cNvCxnSpPr/>
          <p:nvPr/>
        </p:nvCxnSpPr>
        <p:spPr>
          <a:xfrm flipH="1">
            <a:off x="1323429" y="3825733"/>
            <a:ext cx="3439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</a:t>
            </a:r>
            <a:r>
              <a:rPr lang="en-US" dirty="0" smtClean="0"/>
              <a:t>Architecture - Speedup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55700"/>
            <a:ext cx="7772400" cy="468662"/>
          </a:xfrm>
        </p:spPr>
        <p:txBody>
          <a:bodyPr/>
          <a:lstStyle/>
          <a:p>
            <a:r>
              <a:rPr lang="en-US" dirty="0" smtClean="0"/>
              <a:t>Intuitive parallelization of CCL-DUT, CCL-REF and COMPARATOR</a:t>
            </a:r>
          </a:p>
        </p:txBody>
      </p:sp>
      <p:sp>
        <p:nvSpPr>
          <p:cNvPr id="19" name="Rechteck 18"/>
          <p:cNvSpPr/>
          <p:nvPr/>
        </p:nvSpPr>
        <p:spPr>
          <a:xfrm>
            <a:off x="800100" y="1828800"/>
            <a:ext cx="765810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 smtClean="0">
                <a:solidFill>
                  <a:schemeClr val="tx1"/>
                </a:solidFill>
              </a:rPr>
              <a:t>VERIFIER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hteck 120"/>
          <p:cNvSpPr/>
          <p:nvPr/>
        </p:nvSpPr>
        <p:spPr>
          <a:xfrm>
            <a:off x="1028700" y="2303253"/>
            <a:ext cx="304800" cy="2476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ARBITER</a:t>
            </a:r>
            <a:endParaRPr lang="en-US" dirty="0"/>
          </a:p>
        </p:txBody>
      </p:sp>
      <p:sp>
        <p:nvSpPr>
          <p:cNvPr id="122" name="Rechteck 121"/>
          <p:cNvSpPr/>
          <p:nvPr/>
        </p:nvSpPr>
        <p:spPr>
          <a:xfrm>
            <a:off x="7886700" y="2314905"/>
            <a:ext cx="304800" cy="24762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ARBITER</a:t>
            </a:r>
            <a:endParaRPr lang="en-US" dirty="0"/>
          </a:p>
        </p:txBody>
      </p:sp>
      <p:cxnSp>
        <p:nvCxnSpPr>
          <p:cNvPr id="130" name="Gerade Verbindung mit Pfeil 129"/>
          <p:cNvCxnSpPr>
            <a:stCxn id="122" idx="3"/>
          </p:cNvCxnSpPr>
          <p:nvPr/>
        </p:nvCxnSpPr>
        <p:spPr>
          <a:xfrm>
            <a:off x="8191500" y="3553010"/>
            <a:ext cx="647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mit Pfeil 132"/>
          <p:cNvCxnSpPr>
            <a:endCxn id="121" idx="1"/>
          </p:cNvCxnSpPr>
          <p:nvPr/>
        </p:nvCxnSpPr>
        <p:spPr>
          <a:xfrm flipV="1">
            <a:off x="411831" y="3541358"/>
            <a:ext cx="616869" cy="116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ieren 20"/>
          <p:cNvGrpSpPr/>
          <p:nvPr/>
        </p:nvGrpSpPr>
        <p:grpSpPr>
          <a:xfrm>
            <a:off x="1333500" y="2921815"/>
            <a:ext cx="6553200" cy="2069285"/>
            <a:chOff x="1676400" y="2388415"/>
            <a:chExt cx="6553200" cy="2069285"/>
          </a:xfrm>
        </p:grpSpPr>
        <p:sp>
          <p:nvSpPr>
            <p:cNvPr id="20" name="Rechteck 19"/>
            <p:cNvSpPr/>
            <p:nvPr/>
          </p:nvSpPr>
          <p:spPr>
            <a:xfrm>
              <a:off x="1866900" y="2388415"/>
              <a:ext cx="5257800" cy="2069285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hteck 3"/>
            <p:cNvSpPr/>
            <p:nvPr/>
          </p:nvSpPr>
          <p:spPr>
            <a:xfrm>
              <a:off x="4178497" y="2826885"/>
              <a:ext cx="2078181" cy="1191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COMPARATOR</a:t>
              </a:r>
              <a:endParaRPr lang="en-US" dirty="0"/>
            </a:p>
          </p:txBody>
        </p:sp>
        <p:sp>
          <p:nvSpPr>
            <p:cNvPr id="5" name="Rechteck 4"/>
            <p:cNvSpPr/>
            <p:nvPr/>
          </p:nvSpPr>
          <p:spPr>
            <a:xfrm>
              <a:off x="2403728" y="2831041"/>
              <a:ext cx="1350818" cy="507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CCL-DUT</a:t>
              </a:r>
              <a:endParaRPr lang="en-US" dirty="0"/>
            </a:p>
          </p:txBody>
        </p:sp>
        <p:sp>
          <p:nvSpPr>
            <p:cNvPr id="6" name="Rechteck 5"/>
            <p:cNvSpPr/>
            <p:nvPr/>
          </p:nvSpPr>
          <p:spPr>
            <a:xfrm>
              <a:off x="2395414" y="3511021"/>
              <a:ext cx="1350818" cy="507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CCL-REF</a:t>
              </a:r>
              <a:endParaRPr lang="en-US" dirty="0"/>
            </a:p>
          </p:txBody>
        </p:sp>
        <p:cxnSp>
          <p:nvCxnSpPr>
            <p:cNvPr id="7" name="Gerader Verbinder 6"/>
            <p:cNvCxnSpPr/>
            <p:nvPr/>
          </p:nvCxnSpPr>
          <p:spPr>
            <a:xfrm>
              <a:off x="1676400" y="3418550"/>
              <a:ext cx="473269" cy="39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winkelte Verbindung 7"/>
            <p:cNvCxnSpPr>
              <a:endCxn id="5" idx="1"/>
            </p:cNvCxnSpPr>
            <p:nvPr/>
          </p:nvCxnSpPr>
          <p:spPr>
            <a:xfrm rot="5400000" flipH="1" flipV="1">
              <a:off x="2107742" y="3126506"/>
              <a:ext cx="337912" cy="25405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winkelte Verbindung 8"/>
            <p:cNvCxnSpPr>
              <a:endCxn id="6" idx="1"/>
            </p:cNvCxnSpPr>
            <p:nvPr/>
          </p:nvCxnSpPr>
          <p:spPr>
            <a:xfrm rot="16200000" flipH="1">
              <a:off x="2101507" y="3470652"/>
              <a:ext cx="342068" cy="245746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mit Pfeil 9"/>
            <p:cNvCxnSpPr>
              <a:stCxn id="5" idx="3"/>
            </p:cNvCxnSpPr>
            <p:nvPr/>
          </p:nvCxnSpPr>
          <p:spPr>
            <a:xfrm>
              <a:off x="3754546" y="3084579"/>
              <a:ext cx="423951" cy="67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/>
            <p:cNvCxnSpPr>
              <a:stCxn id="6" idx="3"/>
            </p:cNvCxnSpPr>
            <p:nvPr/>
          </p:nvCxnSpPr>
          <p:spPr>
            <a:xfrm flipV="1">
              <a:off x="3746232" y="3764558"/>
              <a:ext cx="432265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/>
            <p:cNvCxnSpPr>
              <a:stCxn id="4" idx="3"/>
              <a:endCxn id="13" idx="2"/>
            </p:cNvCxnSpPr>
            <p:nvPr/>
          </p:nvCxnSpPr>
          <p:spPr>
            <a:xfrm flipV="1">
              <a:off x="6256678" y="3418550"/>
              <a:ext cx="245108" cy="39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e 12"/>
            <p:cNvSpPr/>
            <p:nvPr/>
          </p:nvSpPr>
          <p:spPr>
            <a:xfrm>
              <a:off x="6501786" y="3292333"/>
              <a:ext cx="259271" cy="2524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b="1" dirty="0" smtClean="0"/>
                <a:t>U</a:t>
              </a:r>
              <a:endParaRPr lang="en-US" sz="1100" b="1" dirty="0"/>
            </a:p>
          </p:txBody>
        </p:sp>
        <p:cxnSp>
          <p:nvCxnSpPr>
            <p:cNvPr id="14" name="Gewinkelte Verbindung 13"/>
            <p:cNvCxnSpPr/>
            <p:nvPr/>
          </p:nvCxnSpPr>
          <p:spPr>
            <a:xfrm flipV="1">
              <a:off x="3746232" y="2672889"/>
              <a:ext cx="432265" cy="219638"/>
            </a:xfrm>
            <a:prstGeom prst="bent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winkelte Verbindung 14"/>
            <p:cNvCxnSpPr>
              <a:endCxn id="13" idx="0"/>
            </p:cNvCxnSpPr>
            <p:nvPr/>
          </p:nvCxnSpPr>
          <p:spPr>
            <a:xfrm>
              <a:off x="4178497" y="2672889"/>
              <a:ext cx="2452925" cy="61944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winkelte Verbindung 15"/>
            <p:cNvCxnSpPr/>
            <p:nvPr/>
          </p:nvCxnSpPr>
          <p:spPr>
            <a:xfrm>
              <a:off x="3746232" y="3910444"/>
              <a:ext cx="347002" cy="28055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winkelte Verbindung 16"/>
            <p:cNvCxnSpPr>
              <a:endCxn id="13" idx="4"/>
            </p:cNvCxnSpPr>
            <p:nvPr/>
          </p:nvCxnSpPr>
          <p:spPr>
            <a:xfrm flipV="1">
              <a:off x="4093234" y="3544766"/>
              <a:ext cx="2538188" cy="64623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/>
            <p:cNvCxnSpPr>
              <a:stCxn id="13" idx="6"/>
            </p:cNvCxnSpPr>
            <p:nvPr/>
          </p:nvCxnSpPr>
          <p:spPr>
            <a:xfrm>
              <a:off x="6761057" y="3418550"/>
              <a:ext cx="14685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feld 31"/>
          <p:cNvSpPr txBox="1"/>
          <p:nvPr/>
        </p:nvSpPr>
        <p:spPr>
          <a:xfrm>
            <a:off x="6629400" y="4987379"/>
            <a:ext cx="2947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5" name="Textfeld 94"/>
          <p:cNvSpPr txBox="1"/>
          <p:nvPr/>
        </p:nvSpPr>
        <p:spPr>
          <a:xfrm>
            <a:off x="6819900" y="4834979"/>
            <a:ext cx="2947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97" name="Textfeld 96"/>
          <p:cNvSpPr txBox="1"/>
          <p:nvPr/>
        </p:nvSpPr>
        <p:spPr>
          <a:xfrm>
            <a:off x="7167534" y="4406394"/>
            <a:ext cx="2947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99" name="Gerader Verbinder 98"/>
          <p:cNvCxnSpPr/>
          <p:nvPr/>
        </p:nvCxnSpPr>
        <p:spPr>
          <a:xfrm flipV="1">
            <a:off x="7124700" y="4762500"/>
            <a:ext cx="91440" cy="9144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>
            <a:stCxn id="22" idx="3"/>
          </p:cNvCxnSpPr>
          <p:nvPr/>
        </p:nvCxnSpPr>
        <p:spPr>
          <a:xfrm flipV="1">
            <a:off x="6943231" y="3793813"/>
            <a:ext cx="934438" cy="37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>
            <a:stCxn id="69" idx="3"/>
          </p:cNvCxnSpPr>
          <p:nvPr/>
        </p:nvCxnSpPr>
        <p:spPr>
          <a:xfrm flipV="1">
            <a:off x="7238999" y="3492733"/>
            <a:ext cx="64008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Architecture </a:t>
            </a:r>
            <a:r>
              <a:rPr lang="en-US" dirty="0" smtClean="0"/>
              <a:t>– Speedup 2</a:t>
            </a:r>
            <a:endParaRPr lang="en-US" dirty="0"/>
          </a:p>
        </p:txBody>
      </p:sp>
      <p:graphicFrame>
        <p:nvGraphicFramePr>
          <p:cNvPr id="4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984309"/>
              </p:ext>
            </p:extLst>
          </p:nvPr>
        </p:nvGraphicFramePr>
        <p:xfrm>
          <a:off x="685800" y="3238500"/>
          <a:ext cx="7772400" cy="276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Inhaltsplatzhalter 2"/>
          <p:cNvSpPr txBox="1">
            <a:spLocks/>
          </p:cNvSpPr>
          <p:nvPr/>
        </p:nvSpPr>
        <p:spPr bwMode="auto">
          <a:xfrm>
            <a:off x="685800" y="1155700"/>
            <a:ext cx="7772400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smtClean="0"/>
              <a:t>Images with different complexity</a:t>
            </a:r>
          </a:p>
          <a:p>
            <a:endParaRPr lang="en-US" kern="0" dirty="0" smtClean="0"/>
          </a:p>
          <a:p>
            <a:pPr lvl="5"/>
            <a:r>
              <a:rPr lang="en-US" sz="1900" kern="0" dirty="0" smtClean="0"/>
              <a:t>5x5 Image – one input for 9 boxes</a:t>
            </a:r>
            <a:endParaRPr lang="en-US" sz="1900" kern="0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263312"/>
              </p:ext>
            </p:extLst>
          </p:nvPr>
        </p:nvGraphicFramePr>
        <p:xfrm>
          <a:off x="1447800" y="1624362"/>
          <a:ext cx="1041400" cy="106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</a:tblGrid>
              <a:tr h="21336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53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uppieren 69"/>
          <p:cNvGrpSpPr/>
          <p:nvPr/>
        </p:nvGrpSpPr>
        <p:grpSpPr>
          <a:xfrm>
            <a:off x="2667000" y="1834644"/>
            <a:ext cx="5217670" cy="1886292"/>
            <a:chOff x="1676400" y="2388415"/>
            <a:chExt cx="5669631" cy="2069285"/>
          </a:xfrm>
        </p:grpSpPr>
        <p:sp>
          <p:nvSpPr>
            <p:cNvPr id="71" name="Rechteck 70"/>
            <p:cNvSpPr/>
            <p:nvPr/>
          </p:nvSpPr>
          <p:spPr>
            <a:xfrm>
              <a:off x="1866900" y="2388415"/>
              <a:ext cx="5257800" cy="2069285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hteck 71"/>
            <p:cNvSpPr/>
            <p:nvPr/>
          </p:nvSpPr>
          <p:spPr>
            <a:xfrm>
              <a:off x="4178497" y="2826885"/>
              <a:ext cx="2078181" cy="11912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COMPARATOR</a:t>
              </a:r>
              <a:endParaRPr lang="en-US" dirty="0"/>
            </a:p>
          </p:txBody>
        </p:sp>
        <p:sp>
          <p:nvSpPr>
            <p:cNvPr id="73" name="Rechteck 72"/>
            <p:cNvSpPr/>
            <p:nvPr/>
          </p:nvSpPr>
          <p:spPr>
            <a:xfrm>
              <a:off x="2403728" y="2831041"/>
              <a:ext cx="1350818" cy="507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CCL-REF</a:t>
              </a:r>
              <a:endParaRPr lang="en-US" dirty="0"/>
            </a:p>
          </p:txBody>
        </p:sp>
        <p:sp>
          <p:nvSpPr>
            <p:cNvPr id="74" name="Rechteck 73"/>
            <p:cNvSpPr/>
            <p:nvPr/>
          </p:nvSpPr>
          <p:spPr>
            <a:xfrm>
              <a:off x="2395414" y="3511021"/>
              <a:ext cx="1350818" cy="507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CCL-DUT</a:t>
              </a:r>
              <a:endParaRPr lang="en-US" dirty="0"/>
            </a:p>
          </p:txBody>
        </p:sp>
        <p:cxnSp>
          <p:nvCxnSpPr>
            <p:cNvPr id="75" name="Gerader Verbinder 74"/>
            <p:cNvCxnSpPr/>
            <p:nvPr/>
          </p:nvCxnSpPr>
          <p:spPr>
            <a:xfrm>
              <a:off x="1676400" y="3418550"/>
              <a:ext cx="473269" cy="39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winkelte Verbindung 75"/>
            <p:cNvCxnSpPr>
              <a:endCxn id="73" idx="1"/>
            </p:cNvCxnSpPr>
            <p:nvPr/>
          </p:nvCxnSpPr>
          <p:spPr>
            <a:xfrm rot="5400000" flipH="1" flipV="1">
              <a:off x="2107742" y="3126506"/>
              <a:ext cx="337912" cy="25405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winkelte Verbindung 76"/>
            <p:cNvCxnSpPr>
              <a:endCxn id="74" idx="1"/>
            </p:cNvCxnSpPr>
            <p:nvPr/>
          </p:nvCxnSpPr>
          <p:spPr>
            <a:xfrm rot="16200000" flipH="1">
              <a:off x="2101507" y="3470652"/>
              <a:ext cx="342068" cy="245746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 Verbindung mit Pfeil 77"/>
            <p:cNvCxnSpPr>
              <a:stCxn id="73" idx="3"/>
            </p:cNvCxnSpPr>
            <p:nvPr/>
          </p:nvCxnSpPr>
          <p:spPr>
            <a:xfrm>
              <a:off x="3754546" y="3084579"/>
              <a:ext cx="423951" cy="67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mit Pfeil 78"/>
            <p:cNvCxnSpPr>
              <a:stCxn id="74" idx="3"/>
            </p:cNvCxnSpPr>
            <p:nvPr/>
          </p:nvCxnSpPr>
          <p:spPr>
            <a:xfrm flipV="1">
              <a:off x="3746232" y="3764558"/>
              <a:ext cx="432265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mit Pfeil 79"/>
            <p:cNvCxnSpPr>
              <a:stCxn id="72" idx="3"/>
              <a:endCxn id="81" idx="2"/>
            </p:cNvCxnSpPr>
            <p:nvPr/>
          </p:nvCxnSpPr>
          <p:spPr>
            <a:xfrm flipV="1">
              <a:off x="6256678" y="3418550"/>
              <a:ext cx="245108" cy="39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Ellipse 80"/>
            <p:cNvSpPr/>
            <p:nvPr/>
          </p:nvSpPr>
          <p:spPr>
            <a:xfrm>
              <a:off x="6501786" y="3292333"/>
              <a:ext cx="259271" cy="25243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b="1" dirty="0" smtClean="0"/>
                <a:t>U</a:t>
              </a:r>
              <a:endParaRPr lang="en-US" sz="1100" b="1" dirty="0"/>
            </a:p>
          </p:txBody>
        </p:sp>
        <p:cxnSp>
          <p:nvCxnSpPr>
            <p:cNvPr id="82" name="Gewinkelte Verbindung 81"/>
            <p:cNvCxnSpPr/>
            <p:nvPr/>
          </p:nvCxnSpPr>
          <p:spPr>
            <a:xfrm flipV="1">
              <a:off x="3746232" y="2672889"/>
              <a:ext cx="432265" cy="219638"/>
            </a:xfrm>
            <a:prstGeom prst="bent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winkelte Verbindung 82"/>
            <p:cNvCxnSpPr>
              <a:endCxn id="81" idx="0"/>
            </p:cNvCxnSpPr>
            <p:nvPr/>
          </p:nvCxnSpPr>
          <p:spPr>
            <a:xfrm>
              <a:off x="4178497" y="2672889"/>
              <a:ext cx="2452925" cy="61944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winkelte Verbindung 83"/>
            <p:cNvCxnSpPr/>
            <p:nvPr/>
          </p:nvCxnSpPr>
          <p:spPr>
            <a:xfrm>
              <a:off x="3746232" y="3910444"/>
              <a:ext cx="347002" cy="28055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winkelte Verbindung 84"/>
            <p:cNvCxnSpPr>
              <a:endCxn id="81" idx="4"/>
            </p:cNvCxnSpPr>
            <p:nvPr/>
          </p:nvCxnSpPr>
          <p:spPr>
            <a:xfrm flipV="1">
              <a:off x="4093234" y="3544766"/>
              <a:ext cx="2538188" cy="64623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/>
            <p:cNvCxnSpPr>
              <a:stCxn id="81" idx="6"/>
            </p:cNvCxnSpPr>
            <p:nvPr/>
          </p:nvCxnSpPr>
          <p:spPr>
            <a:xfrm flipV="1">
              <a:off x="6761057" y="3418549"/>
              <a:ext cx="58497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hteck 4"/>
          <p:cNvSpPr/>
          <p:nvPr/>
        </p:nvSpPr>
        <p:spPr>
          <a:xfrm>
            <a:off x="1823674" y="3790803"/>
            <a:ext cx="3789726" cy="12125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Architecture </a:t>
            </a:r>
            <a:r>
              <a:rPr lang="en-US" dirty="0" smtClean="0"/>
              <a:t>– Speedup 2</a:t>
            </a:r>
            <a:endParaRPr lang="en-US" dirty="0"/>
          </a:p>
        </p:txBody>
      </p:sp>
      <p:sp>
        <p:nvSpPr>
          <p:cNvPr id="6" name="Rechteck 5"/>
          <p:cNvSpPr/>
          <p:nvPr/>
        </p:nvSpPr>
        <p:spPr>
          <a:xfrm>
            <a:off x="1959733" y="3911458"/>
            <a:ext cx="3767967" cy="12166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800100" y="1457325"/>
            <a:ext cx="7658100" cy="4099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 smtClean="0">
                <a:solidFill>
                  <a:schemeClr val="tx1"/>
                </a:solidFill>
              </a:rPr>
              <a:t>VERIFIER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1028700" y="1834645"/>
            <a:ext cx="304800" cy="2975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ARBITER</a:t>
            </a:r>
            <a:endParaRPr lang="en-US" dirty="0"/>
          </a:p>
        </p:txBody>
      </p:sp>
      <p:sp>
        <p:nvSpPr>
          <p:cNvPr id="10" name="Rechteck 9"/>
          <p:cNvSpPr/>
          <p:nvPr/>
        </p:nvSpPr>
        <p:spPr>
          <a:xfrm>
            <a:off x="7886700" y="1834644"/>
            <a:ext cx="304800" cy="29754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ARBITER</a:t>
            </a:r>
            <a:endParaRPr lang="en-US" dirty="0"/>
          </a:p>
        </p:txBody>
      </p:sp>
      <p:cxnSp>
        <p:nvCxnSpPr>
          <p:cNvPr id="11" name="Gerade Verbindung mit Pfeil 10"/>
          <p:cNvCxnSpPr>
            <a:stCxn id="10" idx="3"/>
          </p:cNvCxnSpPr>
          <p:nvPr/>
        </p:nvCxnSpPr>
        <p:spPr>
          <a:xfrm flipV="1">
            <a:off x="8191500" y="3319135"/>
            <a:ext cx="619125" cy="32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 flipV="1">
            <a:off x="476250" y="3319135"/>
            <a:ext cx="555941" cy="10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/>
          <p:nvPr/>
        </p:nvCxnSpPr>
        <p:spPr>
          <a:xfrm flipV="1">
            <a:off x="4572464" y="4139256"/>
            <a:ext cx="705287" cy="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2108191" y="4023097"/>
            <a:ext cx="3736453" cy="12430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 14"/>
          <p:cNvSpPr/>
          <p:nvPr/>
        </p:nvSpPr>
        <p:spPr>
          <a:xfrm>
            <a:off x="3915985" y="4287761"/>
            <a:ext cx="1476858" cy="7155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COMPARATOR</a:t>
            </a:r>
            <a:endParaRPr lang="en-US" sz="800" dirty="0"/>
          </a:p>
        </p:txBody>
      </p:sp>
      <p:sp>
        <p:nvSpPr>
          <p:cNvPr id="16" name="Rechteck 15"/>
          <p:cNvSpPr/>
          <p:nvPr/>
        </p:nvSpPr>
        <p:spPr>
          <a:xfrm>
            <a:off x="2497504" y="4292220"/>
            <a:ext cx="959958" cy="30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CCL-REF</a:t>
            </a:r>
            <a:endParaRPr lang="en-US" sz="800" dirty="0"/>
          </a:p>
        </p:txBody>
      </p:sp>
      <p:cxnSp>
        <p:nvCxnSpPr>
          <p:cNvPr id="18" name="Gerader Verbinder 17"/>
          <p:cNvCxnSpPr/>
          <p:nvPr/>
        </p:nvCxnSpPr>
        <p:spPr>
          <a:xfrm>
            <a:off x="1344421" y="4641657"/>
            <a:ext cx="890016" cy="9829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endCxn id="16" idx="1"/>
          </p:cNvCxnSpPr>
          <p:nvPr/>
        </p:nvCxnSpPr>
        <p:spPr>
          <a:xfrm flipV="1">
            <a:off x="2225644" y="4444523"/>
            <a:ext cx="271860" cy="209968"/>
          </a:xfrm>
          <a:prstGeom prst="bentConnector3">
            <a:avLst>
              <a:gd name="adj1" fmla="val 3636"/>
            </a:avLst>
          </a:prstGeom>
          <a:solidFill>
            <a:schemeClr val="bg1"/>
          </a:solidFill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winkelte Verbindung 19"/>
          <p:cNvCxnSpPr>
            <a:endCxn id="125" idx="1"/>
          </p:cNvCxnSpPr>
          <p:nvPr/>
        </p:nvCxnSpPr>
        <p:spPr>
          <a:xfrm rot="16200000" flipH="1">
            <a:off x="2158450" y="4730477"/>
            <a:ext cx="288035" cy="136060"/>
          </a:xfrm>
          <a:prstGeom prst="bentConnector2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 flipV="1">
            <a:off x="3467100" y="4543400"/>
            <a:ext cx="429357" cy="26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 flipV="1">
            <a:off x="3606994" y="4848194"/>
            <a:ext cx="295445" cy="3569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15" idx="3"/>
            <a:endCxn id="24" idx="2"/>
          </p:cNvCxnSpPr>
          <p:nvPr/>
        </p:nvCxnSpPr>
        <p:spPr>
          <a:xfrm flipV="1">
            <a:off x="5392843" y="4644545"/>
            <a:ext cx="180526" cy="100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lipse 23"/>
          <p:cNvSpPr/>
          <p:nvPr/>
        </p:nvSpPr>
        <p:spPr>
          <a:xfrm>
            <a:off x="5573369" y="4568726"/>
            <a:ext cx="184251" cy="1516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 smtClean="0"/>
              <a:t>U</a:t>
            </a:r>
            <a:endParaRPr lang="en-US" sz="800" b="1" dirty="0"/>
          </a:p>
        </p:txBody>
      </p:sp>
      <p:cxnSp>
        <p:nvCxnSpPr>
          <p:cNvPr id="25" name="Gewinkelte Verbindung 24"/>
          <p:cNvCxnSpPr/>
          <p:nvPr/>
        </p:nvCxnSpPr>
        <p:spPr>
          <a:xfrm flipV="1">
            <a:off x="3455217" y="4197693"/>
            <a:ext cx="482164" cy="132753"/>
          </a:xfrm>
          <a:prstGeom prst="bentConnector3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winkelte Verbindung 25"/>
          <p:cNvCxnSpPr>
            <a:endCxn id="24" idx="0"/>
          </p:cNvCxnSpPr>
          <p:nvPr/>
        </p:nvCxnSpPr>
        <p:spPr>
          <a:xfrm>
            <a:off x="3915985" y="4199139"/>
            <a:ext cx="1749510" cy="369587"/>
          </a:xfrm>
          <a:prstGeom prst="bentConnector2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winkelte Verbindung 27"/>
          <p:cNvCxnSpPr>
            <a:endCxn id="24" idx="4"/>
          </p:cNvCxnSpPr>
          <p:nvPr/>
        </p:nvCxnSpPr>
        <p:spPr>
          <a:xfrm flipV="1">
            <a:off x="3626044" y="4720364"/>
            <a:ext cx="2039451" cy="370315"/>
          </a:xfrm>
          <a:prstGeom prst="bentConnector2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24" idx="6"/>
          </p:cNvCxnSpPr>
          <p:nvPr/>
        </p:nvCxnSpPr>
        <p:spPr>
          <a:xfrm>
            <a:off x="5757620" y="4644545"/>
            <a:ext cx="2127050" cy="694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/>
          <p:cNvCxnSpPr/>
          <p:nvPr/>
        </p:nvCxnSpPr>
        <p:spPr>
          <a:xfrm>
            <a:off x="1344421" y="4499912"/>
            <a:ext cx="628910" cy="699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/>
          <p:cNvCxnSpPr/>
          <p:nvPr/>
        </p:nvCxnSpPr>
        <p:spPr>
          <a:xfrm>
            <a:off x="1340481" y="4351805"/>
            <a:ext cx="478719" cy="565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hteck 98"/>
          <p:cNvSpPr/>
          <p:nvPr/>
        </p:nvSpPr>
        <p:spPr>
          <a:xfrm>
            <a:off x="1652840" y="2294176"/>
            <a:ext cx="1014160" cy="9278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smtClean="0"/>
              <a:t>RERUN</a:t>
            </a:r>
          </a:p>
          <a:p>
            <a:pPr algn="ctr"/>
            <a:r>
              <a:rPr lang="en-US" dirty="0" smtClean="0"/>
              <a:t>FIFO</a:t>
            </a:r>
            <a:endParaRPr lang="en-US" dirty="0"/>
          </a:p>
        </p:txBody>
      </p:sp>
      <p:cxnSp>
        <p:nvCxnSpPr>
          <p:cNvPr id="105" name="Gerade Verbindung mit Pfeil 104"/>
          <p:cNvCxnSpPr/>
          <p:nvPr/>
        </p:nvCxnSpPr>
        <p:spPr>
          <a:xfrm flipV="1">
            <a:off x="1959733" y="3222076"/>
            <a:ext cx="0" cy="5687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/>
          <p:cNvCxnSpPr/>
          <p:nvPr/>
        </p:nvCxnSpPr>
        <p:spPr>
          <a:xfrm flipV="1">
            <a:off x="2194270" y="3226978"/>
            <a:ext cx="3391" cy="6844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rade Verbindung mit Pfeil 119"/>
          <p:cNvCxnSpPr/>
          <p:nvPr/>
        </p:nvCxnSpPr>
        <p:spPr>
          <a:xfrm flipV="1">
            <a:off x="2460970" y="3222075"/>
            <a:ext cx="0" cy="7954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hteck 124"/>
          <p:cNvSpPr/>
          <p:nvPr/>
        </p:nvSpPr>
        <p:spPr>
          <a:xfrm>
            <a:off x="2370497" y="4710291"/>
            <a:ext cx="1238380" cy="4644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smtClean="0"/>
              <a:t>CCL-DUT</a:t>
            </a:r>
            <a:endParaRPr lang="en-US" dirty="0"/>
          </a:p>
        </p:txBody>
      </p:sp>
      <p:cxnSp>
        <p:nvCxnSpPr>
          <p:cNvPr id="171" name="Gewinkelte Verbindung 170"/>
          <p:cNvCxnSpPr/>
          <p:nvPr/>
        </p:nvCxnSpPr>
        <p:spPr>
          <a:xfrm>
            <a:off x="2460970" y="4024463"/>
            <a:ext cx="238783" cy="143245"/>
          </a:xfrm>
          <a:prstGeom prst="bentConnector3">
            <a:avLst>
              <a:gd name="adj1" fmla="val 13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winkelte Verbindung 174"/>
          <p:cNvCxnSpPr>
            <a:endCxn id="16" idx="0"/>
          </p:cNvCxnSpPr>
          <p:nvPr/>
        </p:nvCxnSpPr>
        <p:spPr>
          <a:xfrm>
            <a:off x="2688431" y="4167188"/>
            <a:ext cx="289052" cy="125032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6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- Verifier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55700"/>
            <a:ext cx="7772400" cy="1627841"/>
          </a:xfrm>
        </p:spPr>
        <p:txBody>
          <a:bodyPr/>
          <a:lstStyle/>
          <a:p>
            <a:r>
              <a:rPr lang="en-US" dirty="0"/>
              <a:t>Interface to </a:t>
            </a:r>
            <a:r>
              <a:rPr lang="en-US" dirty="0" err="1"/>
              <a:t>testbench</a:t>
            </a:r>
            <a:r>
              <a:rPr lang="en-US" dirty="0"/>
              <a:t> of </a:t>
            </a:r>
            <a:r>
              <a:rPr lang="en-US" dirty="0" smtClean="0"/>
              <a:t>CCL-DUT/CCL-REF</a:t>
            </a:r>
          </a:p>
          <a:p>
            <a:r>
              <a:rPr lang="en-US" dirty="0" smtClean="0"/>
              <a:t>VHDL image reader library (PBM)</a:t>
            </a:r>
          </a:p>
          <a:p>
            <a:r>
              <a:rPr lang="en-US" dirty="0"/>
              <a:t>Compares with results of software CCL implementation</a:t>
            </a:r>
          </a:p>
          <a:p>
            <a:r>
              <a:rPr lang="en-US" dirty="0" smtClean="0"/>
              <a:t>Run simulation for a single image or for a list of images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grpSp>
        <p:nvGrpSpPr>
          <p:cNvPr id="37" name="Gruppieren 36"/>
          <p:cNvGrpSpPr/>
          <p:nvPr/>
        </p:nvGrpSpPr>
        <p:grpSpPr>
          <a:xfrm>
            <a:off x="2584467" y="3900080"/>
            <a:ext cx="2667000" cy="1470212"/>
            <a:chOff x="2362200" y="3711388"/>
            <a:chExt cx="2667000" cy="1470212"/>
          </a:xfrm>
        </p:grpSpPr>
        <p:cxnSp>
          <p:nvCxnSpPr>
            <p:cNvPr id="12" name="Gerader Verbinder 11"/>
            <p:cNvCxnSpPr/>
            <p:nvPr/>
          </p:nvCxnSpPr>
          <p:spPr>
            <a:xfrm flipV="1">
              <a:off x="2362200" y="3711388"/>
              <a:ext cx="0" cy="147021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" name="Gerader Verbinder 13"/>
            <p:cNvCxnSpPr/>
            <p:nvPr/>
          </p:nvCxnSpPr>
          <p:spPr>
            <a:xfrm>
              <a:off x="2362200" y="3711388"/>
              <a:ext cx="2667000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Gerader Verbinder 15"/>
            <p:cNvCxnSpPr/>
            <p:nvPr/>
          </p:nvCxnSpPr>
          <p:spPr>
            <a:xfrm>
              <a:off x="5029200" y="3711388"/>
              <a:ext cx="0" cy="147021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Gerader Verbinder 17"/>
            <p:cNvCxnSpPr/>
            <p:nvPr/>
          </p:nvCxnSpPr>
          <p:spPr>
            <a:xfrm flipH="1">
              <a:off x="4706471" y="5181600"/>
              <a:ext cx="322729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Gerader Verbinder 19"/>
            <p:cNvCxnSpPr/>
            <p:nvPr/>
          </p:nvCxnSpPr>
          <p:spPr>
            <a:xfrm flipV="1">
              <a:off x="4719918" y="4047565"/>
              <a:ext cx="0" cy="113403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Gerader Verbinder 21"/>
            <p:cNvCxnSpPr/>
            <p:nvPr/>
          </p:nvCxnSpPr>
          <p:spPr>
            <a:xfrm flipH="1">
              <a:off x="2649071" y="4061012"/>
              <a:ext cx="2057400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Gerader Verbinder 23"/>
            <p:cNvCxnSpPr/>
            <p:nvPr/>
          </p:nvCxnSpPr>
          <p:spPr>
            <a:xfrm>
              <a:off x="2649071" y="4047565"/>
              <a:ext cx="0" cy="113403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Gerader Verbinder 25"/>
            <p:cNvCxnSpPr/>
            <p:nvPr/>
          </p:nvCxnSpPr>
          <p:spPr>
            <a:xfrm flipH="1">
              <a:off x="2362200" y="5181600"/>
              <a:ext cx="286871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7" name="Textfeld 26"/>
            <p:cNvSpPr txBox="1"/>
            <p:nvPr/>
          </p:nvSpPr>
          <p:spPr>
            <a:xfrm>
              <a:off x="2375648" y="3711388"/>
              <a:ext cx="2653552" cy="3847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VHDL-</a:t>
              </a:r>
              <a:r>
                <a:rPr lang="en-US" dirty="0" err="1" smtClean="0"/>
                <a:t>Testbench</a:t>
              </a:r>
              <a:endParaRPr lang="en-US" dirty="0"/>
            </a:p>
          </p:txBody>
        </p:sp>
        <p:sp>
          <p:nvSpPr>
            <p:cNvPr id="28" name="Rechteck 27"/>
            <p:cNvSpPr/>
            <p:nvPr/>
          </p:nvSpPr>
          <p:spPr>
            <a:xfrm>
              <a:off x="2958352" y="4271683"/>
              <a:ext cx="1438838" cy="7351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DUT/REF</a:t>
              </a:r>
              <a:endParaRPr lang="en-US" dirty="0"/>
            </a:p>
          </p:txBody>
        </p:sp>
        <p:cxnSp>
          <p:nvCxnSpPr>
            <p:cNvPr id="30" name="Gerade Verbindung mit Pfeil 29"/>
            <p:cNvCxnSpPr>
              <a:stCxn id="28" idx="1"/>
            </p:cNvCxnSpPr>
            <p:nvPr/>
          </p:nvCxnSpPr>
          <p:spPr>
            <a:xfrm flipH="1">
              <a:off x="2649072" y="4639236"/>
              <a:ext cx="3092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/>
            <p:cNvCxnSpPr>
              <a:stCxn id="28" idx="3"/>
            </p:cNvCxnSpPr>
            <p:nvPr/>
          </p:nvCxnSpPr>
          <p:spPr>
            <a:xfrm>
              <a:off x="4397190" y="4639236"/>
              <a:ext cx="32272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8" name="Tabel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308670"/>
              </p:ext>
            </p:extLst>
          </p:nvPr>
        </p:nvGraphicFramePr>
        <p:xfrm>
          <a:off x="816428" y="4302244"/>
          <a:ext cx="1066800" cy="1079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6700"/>
                <a:gridCol w="266700"/>
                <a:gridCol w="266700"/>
                <a:gridCol w="266700"/>
              </a:tblGrid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40" name="Gerade Verbindung mit Pfeil 39"/>
          <p:cNvCxnSpPr/>
          <p:nvPr/>
        </p:nvCxnSpPr>
        <p:spPr>
          <a:xfrm>
            <a:off x="1883228" y="4828422"/>
            <a:ext cx="70123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40"/>
          <p:cNvSpPr/>
          <p:nvPr/>
        </p:nvSpPr>
        <p:spPr>
          <a:xfrm>
            <a:off x="2597915" y="3179183"/>
            <a:ext cx="2640103" cy="3847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Software CCL</a:t>
            </a:r>
            <a:endParaRPr lang="en-US" dirty="0"/>
          </a:p>
        </p:txBody>
      </p:sp>
      <p:sp>
        <p:nvSpPr>
          <p:cNvPr id="44" name="Textfeld 43"/>
          <p:cNvSpPr txBox="1"/>
          <p:nvPr/>
        </p:nvSpPr>
        <p:spPr>
          <a:xfrm>
            <a:off x="5238018" y="4851352"/>
            <a:ext cx="135165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Box output</a:t>
            </a:r>
            <a:endParaRPr lang="en-US" dirty="0"/>
          </a:p>
        </p:txBody>
      </p:sp>
      <p:sp>
        <p:nvSpPr>
          <p:cNvPr id="47" name="Gleichschenkliges Dreieck 46"/>
          <p:cNvSpPr/>
          <p:nvPr/>
        </p:nvSpPr>
        <p:spPr>
          <a:xfrm rot="5400000">
            <a:off x="6327951" y="3836508"/>
            <a:ext cx="523437" cy="525196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Gewinkelte Verbindung 48"/>
          <p:cNvCxnSpPr>
            <a:endCxn id="41" idx="1"/>
          </p:cNvCxnSpPr>
          <p:nvPr/>
        </p:nvCxnSpPr>
        <p:spPr>
          <a:xfrm rot="5400000" flipH="1" flipV="1">
            <a:off x="1661175" y="3889930"/>
            <a:ext cx="1455126" cy="418354"/>
          </a:xfrm>
          <a:prstGeom prst="bentConnector2">
            <a:avLst/>
          </a:prstGeom>
          <a:ln w="254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winkelte Verbindung 50"/>
          <p:cNvCxnSpPr>
            <a:stCxn id="41" idx="3"/>
          </p:cNvCxnSpPr>
          <p:nvPr/>
        </p:nvCxnSpPr>
        <p:spPr>
          <a:xfrm>
            <a:off x="5238018" y="3371544"/>
            <a:ext cx="1075603" cy="614654"/>
          </a:xfrm>
          <a:prstGeom prst="bent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winkelte Verbindung 53"/>
          <p:cNvCxnSpPr/>
          <p:nvPr/>
        </p:nvCxnSpPr>
        <p:spPr>
          <a:xfrm flipV="1">
            <a:off x="5251465" y="4214703"/>
            <a:ext cx="1062156" cy="611967"/>
          </a:xfrm>
          <a:prstGeom prst="bent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moni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712" y="3462046"/>
            <a:ext cx="1285035" cy="128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hteck 54"/>
          <p:cNvSpPr/>
          <p:nvPr/>
        </p:nvSpPr>
        <p:spPr>
          <a:xfrm>
            <a:off x="566057" y="2946407"/>
            <a:ext cx="6516914" cy="285931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feld 55"/>
          <p:cNvSpPr txBox="1"/>
          <p:nvPr/>
        </p:nvSpPr>
        <p:spPr>
          <a:xfrm>
            <a:off x="5106789" y="5470547"/>
            <a:ext cx="197618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Software Verifier</a:t>
            </a:r>
            <a:endParaRPr lang="en-US" dirty="0"/>
          </a:p>
        </p:txBody>
      </p:sp>
      <p:cxnSp>
        <p:nvCxnSpPr>
          <p:cNvPr id="58" name="Gerade Verbindung mit Pfeil 57"/>
          <p:cNvCxnSpPr>
            <a:stCxn id="47" idx="0"/>
            <a:endCxn id="1026" idx="1"/>
          </p:cNvCxnSpPr>
          <p:nvPr/>
        </p:nvCxnSpPr>
        <p:spPr>
          <a:xfrm>
            <a:off x="6852268" y="4099107"/>
            <a:ext cx="556444" cy="54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afik 5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288" y="3644989"/>
            <a:ext cx="972637" cy="653390"/>
          </a:xfrm>
          <a:prstGeom prst="rect">
            <a:avLst/>
          </a:prstGeom>
        </p:spPr>
      </p:pic>
      <p:sp>
        <p:nvSpPr>
          <p:cNvPr id="61" name="Textfeld 60"/>
          <p:cNvSpPr txBox="1"/>
          <p:nvPr/>
        </p:nvSpPr>
        <p:spPr>
          <a:xfrm>
            <a:off x="616441" y="2989755"/>
            <a:ext cx="3152145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/test33.pbm</a:t>
            </a: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/test34.pbm</a:t>
            </a:r>
            <a:endParaRPr lang="en-US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/test35.pbm</a:t>
            </a:r>
            <a:endParaRPr lang="en-US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/test36.pbm</a:t>
            </a:r>
            <a:endParaRPr lang="en-US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/test37.pbm</a:t>
            </a:r>
            <a:endParaRPr lang="en-US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/test38.pbm</a:t>
            </a:r>
            <a:endParaRPr lang="en-US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/test39.pbm errors:2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en-US" sz="16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US" sz="16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/test40.pbm</a:t>
            </a:r>
            <a:endParaRPr lang="en-US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Verification 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failed</a:t>
            </a:r>
            <a:endParaRPr lang="en-US" sz="1600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2" name="Grafik 6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471" y="2908846"/>
            <a:ext cx="4368201" cy="2934436"/>
          </a:xfrm>
          <a:prstGeom prst="rect">
            <a:avLst/>
          </a:prstGeom>
        </p:spPr>
      </p:pic>
      <p:sp>
        <p:nvSpPr>
          <p:cNvPr id="59" name="Textfeld 58"/>
          <p:cNvSpPr txBox="1"/>
          <p:nvPr/>
        </p:nvSpPr>
        <p:spPr>
          <a:xfrm>
            <a:off x="538452" y="5295147"/>
            <a:ext cx="270779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Result of image test list</a:t>
            </a:r>
            <a:endParaRPr lang="en-US" dirty="0"/>
          </a:p>
        </p:txBody>
      </p:sp>
      <p:sp>
        <p:nvSpPr>
          <p:cNvPr id="64" name="Textfeld 63"/>
          <p:cNvSpPr txBox="1"/>
          <p:nvPr/>
        </p:nvSpPr>
        <p:spPr>
          <a:xfrm>
            <a:off x="4093493" y="5823239"/>
            <a:ext cx="205857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Single image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46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1" grpId="0" animBg="1"/>
      <p:bldP spid="41" grpId="1" animBg="1"/>
      <p:bldP spid="44" grpId="0"/>
      <p:bldP spid="44" grpId="1"/>
      <p:bldP spid="47" grpId="0" animBg="1"/>
      <p:bldP spid="47" grpId="1" animBg="1"/>
      <p:bldP spid="55" grpId="0" animBg="1"/>
      <p:bldP spid="55" grpId="1" animBg="1"/>
      <p:bldP spid="56" grpId="0"/>
      <p:bldP spid="56" grpId="1"/>
      <p:bldP spid="61" grpId="0" animBg="1"/>
      <p:bldP spid="59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– Error Inspector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083" y="957857"/>
            <a:ext cx="5448117" cy="4857750"/>
          </a:xfrm>
        </p:spPr>
      </p:pic>
      <p:pic>
        <p:nvPicPr>
          <p:cNvPr id="6" name="Inhaltsplatzhalt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" t="20916" r="48601" b="76731"/>
          <a:stretch/>
        </p:blipFill>
        <p:spPr bwMode="auto">
          <a:xfrm>
            <a:off x="228600" y="3168523"/>
            <a:ext cx="670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Inhaltsplatzhalt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3" t="6165" r="48845" b="91477"/>
          <a:stretch/>
        </p:blipFill>
        <p:spPr bwMode="auto">
          <a:xfrm>
            <a:off x="228600" y="2857500"/>
            <a:ext cx="6705600" cy="30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Gerader Verbinder 8"/>
          <p:cNvCxnSpPr/>
          <p:nvPr/>
        </p:nvCxnSpPr>
        <p:spPr>
          <a:xfrm flipH="1">
            <a:off x="228600" y="1257300"/>
            <a:ext cx="3124200" cy="16002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5753100" y="1257300"/>
            <a:ext cx="1181100" cy="16002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/>
          <p:cNvCxnSpPr/>
          <p:nvPr/>
        </p:nvCxnSpPr>
        <p:spPr>
          <a:xfrm flipH="1">
            <a:off x="228600" y="1981200"/>
            <a:ext cx="3124200" cy="118109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/>
          <p:nvPr/>
        </p:nvCxnSpPr>
        <p:spPr>
          <a:xfrm>
            <a:off x="5753100" y="1943100"/>
            <a:ext cx="1181100" cy="122542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45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– </a:t>
            </a:r>
            <a:r>
              <a:rPr lang="en-US" dirty="0" smtClean="0"/>
              <a:t>Error </a:t>
            </a:r>
            <a:r>
              <a:rPr lang="en-US" dirty="0" err="1" smtClean="0"/>
              <a:t>Heatmap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35" y="1383748"/>
            <a:ext cx="7282930" cy="4401654"/>
          </a:xfrm>
        </p:spPr>
      </p:pic>
    </p:spTree>
    <p:extLst>
      <p:ext uri="{BB962C8B-B14F-4D97-AF65-F5344CB8AC3E}">
        <p14:creationId xmlns:p14="http://schemas.microsoft.com/office/powerpoint/2010/main" val="357541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</a:t>
            </a:r>
            <a:r>
              <a:rPr lang="de-DE" dirty="0" smtClean="0"/>
              <a:t>Speed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55700"/>
                <a:ext cx="7772400" cy="4940300"/>
              </a:xfrm>
            </p:spPr>
            <p:txBody>
              <a:bodyPr/>
              <a:lstStyle/>
              <a:p>
                <a:endParaRPr lang="en-US" dirty="0" smtClean="0"/>
              </a:p>
              <a:p>
                <a:r>
                  <a:rPr lang="en-US" dirty="0" smtClean="0"/>
                  <a:t>Exhaustive test run for different image sizes</a:t>
                </a:r>
              </a:p>
              <a:p>
                <a:r>
                  <a:rPr lang="en-US" dirty="0"/>
                  <a:t>Xilinx Virtex-6 LX-240 (xc6vlx240t-ff1759-2</a:t>
                </a:r>
                <a:r>
                  <a:rPr lang="en-US" dirty="0" smtClean="0"/>
                  <a:t>) run on 125 MHz</a:t>
                </a:r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err="1" smtClean="0"/>
                  <a:t>ModelSim</a:t>
                </a:r>
                <a:r>
                  <a:rPr lang="en-US" dirty="0" smtClean="0"/>
                  <a:t> simulation ~30 min for 4 x 4 image </a:t>
                </a:r>
                <a:r>
                  <a:rPr lang="en-US" dirty="0"/>
                  <a:t>(Intel i7-3770) </a:t>
                </a:r>
                <a:endParaRPr lang="en-US" dirty="0" smtClean="0"/>
              </a:p>
              <a:p>
                <a:r>
                  <a:rPr lang="en-US" dirty="0" smtClean="0"/>
                  <a:t>6 x 6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dirty="0" smtClean="0"/>
                  <a:t> longer 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~60 years</a:t>
                </a:r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55700"/>
                <a:ext cx="7772400" cy="4940300"/>
              </a:xfrm>
              <a:blipFill rotWithShape="0">
                <a:blip r:embed="rId3"/>
                <a:stretch>
                  <a:fillRect l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6343568"/>
                  </p:ext>
                </p:extLst>
              </p:nvPr>
            </p:nvGraphicFramePr>
            <p:xfrm>
              <a:off x="1524000" y="2400300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Size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CMP</a:t>
                          </a:r>
                          <a:r>
                            <a:rPr lang="en-US" baseline="0" dirty="0" smtClean="0"/>
                            <a:t> 2  </a:t>
                          </a:r>
                          <a14:m>
                            <m:oMath xmlns:m="http://schemas.openxmlformats.org/officeDocument/2006/math"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𝒪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CMP 3  </a:t>
                          </a:r>
                          <a14:m>
                            <m:oMath xmlns:m="http://schemas.openxmlformats.org/officeDocument/2006/math">
                              <m: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 x 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38 </a:t>
                          </a:r>
                          <a:r>
                            <a:rPr lang="en-US" dirty="0" err="1" smtClean="0"/>
                            <a:t>ms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36ms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 x 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18:48h</a:t>
                          </a:r>
                          <a:r>
                            <a:rPr lang="en-US" dirty="0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18:24h</a:t>
                          </a:r>
                          <a:r>
                            <a:rPr lang="en-US" dirty="0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 x 18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1d 03:57h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1d 02:50h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21 x 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69d 02:26h*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61d 22:22h*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6343568"/>
                  </p:ext>
                </p:extLst>
              </p:nvPr>
            </p:nvGraphicFramePr>
            <p:xfrm>
              <a:off x="1524000" y="2400300"/>
              <a:ext cx="6096000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Size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299" t="-8197" r="-10119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901" t="-8197" r="-1502" b="-4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 x 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38 </a:t>
                          </a:r>
                          <a:r>
                            <a:rPr lang="en-US" dirty="0" err="1" smtClean="0"/>
                            <a:t>ms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36ms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 x 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18:48h</a:t>
                          </a:r>
                          <a:r>
                            <a:rPr lang="en-US" dirty="0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18:24h</a:t>
                          </a:r>
                          <a:r>
                            <a:rPr lang="en-US" dirty="0" smtClean="0">
                              <a:solidFill>
                                <a:schemeClr val="accent5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 x 18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1d </a:t>
                          </a:r>
                          <a:r>
                            <a:rPr lang="en-US" dirty="0" smtClean="0"/>
                            <a:t>03:57h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1d </a:t>
                          </a:r>
                          <a:r>
                            <a:rPr lang="en-US" dirty="0" smtClean="0"/>
                            <a:t>02:50h</a:t>
                          </a:r>
                          <a:r>
                            <a:rPr lang="en-US" dirty="0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</a:rPr>
                            <a:t>*</a:t>
                          </a:r>
                          <a:endParaRPr lang="en-US" dirty="0"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21 x 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69d 02:26h*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61d </a:t>
                          </a:r>
                          <a:r>
                            <a:rPr lang="en-US" dirty="0" smtClean="0"/>
                            <a:t>22:22h*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feld 4"/>
          <p:cNvSpPr txBox="1"/>
          <p:nvPr/>
        </p:nvSpPr>
        <p:spPr>
          <a:xfrm>
            <a:off x="5410200" y="4229100"/>
            <a:ext cx="25908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Interpolated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9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  <a:r>
              <a:rPr lang="de-DE" dirty="0" smtClean="0"/>
              <a:t>Speed </a:t>
            </a:r>
            <a:r>
              <a:rPr lang="en-US" dirty="0" smtClean="0"/>
              <a:t>– Parallel Instances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Inhaltsplatzhalt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78116472"/>
                  </p:ext>
                </p:extLst>
              </p:nvPr>
            </p:nvGraphicFramePr>
            <p:xfrm>
              <a:off x="685800" y="2362200"/>
              <a:ext cx="7772400" cy="25857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54480"/>
                    <a:gridCol w="1554480"/>
                    <a:gridCol w="1554480"/>
                    <a:gridCol w="1554480"/>
                    <a:gridCol w="1554480"/>
                  </a:tblGrid>
                  <a:tr h="264160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Size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CMP 2  </a:t>
                          </a:r>
                          <a14:m>
                            <m:oMath xmlns:m="http://schemas.openxmlformats.org/officeDocument/2006/math"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𝒪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CMP 3  </a:t>
                          </a:r>
                          <a14:m>
                            <m:oMath xmlns:m="http://schemas.openxmlformats.org/officeDocument/2006/math">
                              <m: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endParaRPr lang="en-US" dirty="0" smtClean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1854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instances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runtime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instances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runtime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 x 4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525 µs</a:t>
                          </a:r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581µs</a:t>
                          </a:r>
                          <a:endParaRPr lang="en-US" dirty="0"/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 x 6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86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00:13h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70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00:16h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 x 18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84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00:19h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69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00:23h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21 x 2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75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22:06h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58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1d 01:37h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 x 5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75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6d 12:35h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57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Inhaltsplatzhalt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78116472"/>
                  </p:ext>
                </p:extLst>
              </p:nvPr>
            </p:nvGraphicFramePr>
            <p:xfrm>
              <a:off x="685800" y="2362200"/>
              <a:ext cx="7772400" cy="25857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54480"/>
                    <a:gridCol w="1554480"/>
                    <a:gridCol w="1554480"/>
                    <a:gridCol w="1554480"/>
                    <a:gridCol w="1554480"/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Size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0098" t="-8333" r="-100587" b="-63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50392" t="-8333" r="-784" b="-63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instances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runtime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instances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bg1"/>
                              </a:solidFill>
                            </a:rPr>
                            <a:t>runtime</a:t>
                          </a:r>
                          <a:endParaRPr 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 x 4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525 µs</a:t>
                          </a:r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95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581µs</a:t>
                          </a:r>
                          <a:endParaRPr lang="en-US" dirty="0"/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 x 6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86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00:13h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70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00:16h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 x 18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84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00:19h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69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00:23h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21 x 2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75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22:06h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58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1d 01:37h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 x 5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75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6d 12:35h</a:t>
                          </a:r>
                          <a:endParaRPr lang="en-US" dirty="0"/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57</a:t>
                          </a:r>
                          <a:endParaRPr lang="en-US" dirty="0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smtClean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Inhaltsplatzhalter 2"/>
          <p:cNvSpPr txBox="1">
            <a:spLocks/>
          </p:cNvSpPr>
          <p:nvPr/>
        </p:nvSpPr>
        <p:spPr bwMode="auto">
          <a:xfrm>
            <a:off x="685800" y="1155700"/>
            <a:ext cx="7772400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smtClean="0"/>
              <a:t>Exhaustive test run for different image sizes</a:t>
            </a:r>
          </a:p>
          <a:p>
            <a:r>
              <a:rPr lang="en-US" kern="0" dirty="0" smtClean="0"/>
              <a:t>Maximum number of instances</a:t>
            </a:r>
          </a:p>
        </p:txBody>
      </p:sp>
    </p:spTree>
    <p:extLst>
      <p:ext uri="{BB962C8B-B14F-4D97-AF65-F5344CB8AC3E}">
        <p14:creationId xmlns:p14="http://schemas.microsoft.com/office/powerpoint/2010/main" val="199405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Speed - Runtime</a:t>
            </a:r>
            <a:endParaRPr lang="en-US" dirty="0"/>
          </a:p>
        </p:txBody>
      </p:sp>
      <p:graphicFrame>
        <p:nvGraphicFramePr>
          <p:cNvPr id="9" name="Inhaltsplatzhalt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31476"/>
              </p:ext>
            </p:extLst>
          </p:nvPr>
        </p:nvGraphicFramePr>
        <p:xfrm>
          <a:off x="685800" y="1638299"/>
          <a:ext cx="7772400" cy="4439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Inhaltsplatzhalter 2"/>
          <p:cNvSpPr txBox="1">
            <a:spLocks/>
          </p:cNvSpPr>
          <p:nvPr/>
        </p:nvSpPr>
        <p:spPr bwMode="auto">
          <a:xfrm>
            <a:off x="685800" y="1155700"/>
            <a:ext cx="77724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smtClean="0"/>
              <a:t>Exhaustive test runtime in years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63698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55700"/>
            <a:ext cx="7772400" cy="711200"/>
          </a:xfrm>
        </p:spPr>
        <p:txBody>
          <a:bodyPr/>
          <a:lstStyle/>
          <a:p>
            <a:r>
              <a:rPr lang="en-US" dirty="0" smtClean="0"/>
              <a:t>&gt;12 revisions of CCL-DUT exhaustive tested (6 x 6)</a:t>
            </a:r>
            <a:endParaRPr lang="en-US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280610357"/>
              </p:ext>
            </p:extLst>
          </p:nvPr>
        </p:nvGraphicFramePr>
        <p:xfrm>
          <a:off x="800100" y="1676400"/>
          <a:ext cx="76581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1268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1494370454"/>
              </p:ext>
            </p:extLst>
          </p:nvPr>
        </p:nvGraphicFramePr>
        <p:xfrm>
          <a:off x="546653" y="973605"/>
          <a:ext cx="8090452" cy="5165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7983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– Non exhaustive test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image generator</a:t>
            </a:r>
          </a:p>
          <a:p>
            <a:pPr lvl="1"/>
            <a:r>
              <a:rPr lang="en-US" dirty="0" smtClean="0"/>
              <a:t>Predefined pattern</a:t>
            </a:r>
          </a:p>
          <a:p>
            <a:pPr lvl="1"/>
            <a:r>
              <a:rPr lang="en-US" dirty="0" smtClean="0"/>
              <a:t>Random noise</a:t>
            </a:r>
          </a:p>
          <a:p>
            <a:r>
              <a:rPr lang="en-US" dirty="0" smtClean="0"/>
              <a:t>1000 images 63 x 61</a:t>
            </a:r>
          </a:p>
          <a:p>
            <a:pPr lvl="1"/>
            <a:r>
              <a:rPr lang="en-US" dirty="0" smtClean="0"/>
              <a:t>Different pattern density</a:t>
            </a:r>
          </a:p>
          <a:p>
            <a:pPr lvl="1"/>
            <a:r>
              <a:rPr lang="en-US" dirty="0" smtClean="0"/>
              <a:t>Different noise level</a:t>
            </a:r>
          </a:p>
          <a:p>
            <a:r>
              <a:rPr lang="en-US" dirty="0" smtClean="0"/>
              <a:t>No errors found</a:t>
            </a: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55" y="1981200"/>
            <a:ext cx="3695700" cy="35783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4610100"/>
            <a:ext cx="3659602" cy="9525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feld 5"/>
          <p:cNvSpPr txBox="1"/>
          <p:nvPr/>
        </p:nvSpPr>
        <p:spPr>
          <a:xfrm>
            <a:off x="495300" y="5715000"/>
            <a:ext cx="36596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1: Predefined pattern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4582391" y="5715000"/>
            <a:ext cx="36596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2: Sample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4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Implementation of CCL-REF and </a:t>
                </a:r>
                <a:r>
                  <a:rPr lang="en-US" dirty="0"/>
                  <a:t>v</a:t>
                </a:r>
                <a:r>
                  <a:rPr lang="en-US" dirty="0" smtClean="0"/>
                  <a:t>erifier architecture</a:t>
                </a:r>
              </a:p>
              <a:p>
                <a:r>
                  <a:rPr lang="en-US" dirty="0" smtClean="0"/>
                  <a:t>Software for reporting and visualizing errors</a:t>
                </a:r>
              </a:p>
              <a:p>
                <a:r>
                  <a:rPr lang="en-US" dirty="0" smtClean="0"/>
                  <a:t>Interface to </a:t>
                </a:r>
                <a:r>
                  <a:rPr lang="en-US" dirty="0" err="1" smtClean="0"/>
                  <a:t>ModelSim</a:t>
                </a:r>
                <a:r>
                  <a:rPr lang="en-US" dirty="0" smtClean="0"/>
                  <a:t> Simulation</a:t>
                </a:r>
              </a:p>
              <a:p>
                <a:endParaRPr lang="en-US" dirty="0"/>
              </a:p>
              <a:p>
                <a:r>
                  <a:rPr lang="en-US" dirty="0" smtClean="0"/>
                  <a:t>Proof correctness of image processing algorithm for some sizes</a:t>
                </a:r>
              </a:p>
              <a:p>
                <a:r>
                  <a:rPr lang="en-US" dirty="0" smtClean="0"/>
                  <a:t>Different image sizes exhaustive tested</a:t>
                </a:r>
              </a:p>
              <a:p>
                <a:r>
                  <a:rPr lang="en-US" dirty="0" smtClean="0"/>
                  <a:t>6 x 6 image errors from 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&gt;8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Bigger image size tested with random images</a:t>
                </a:r>
                <a:endParaRPr lang="en-US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49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Future Work </a:t>
            </a:r>
            <a:r>
              <a:rPr lang="en-US" noProof="1" smtClean="0"/>
              <a:t>Recommandation</a:t>
            </a:r>
            <a:endParaRPr lang="en-US" noProof="1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CCL-REF instances for different complex images</a:t>
            </a:r>
          </a:p>
          <a:p>
            <a:r>
              <a:rPr lang="en-US" dirty="0" smtClean="0"/>
              <a:t>Fully pipelined CCL-REF</a:t>
            </a:r>
          </a:p>
          <a:p>
            <a:r>
              <a:rPr lang="en-US" dirty="0" smtClean="0"/>
              <a:t>Extend to generic verification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3825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Questions/Demo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57600" y="3187700"/>
            <a:ext cx="1828800" cy="482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Questions?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16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[</a:t>
            </a:r>
            <a:r>
              <a:rPr lang="en-US" sz="1600" dirty="0" smtClean="0"/>
              <a:t>KRW+12</a:t>
            </a:r>
            <a:r>
              <a:rPr lang="en-US" sz="1600" dirty="0"/>
              <a:t>] </a:t>
            </a:r>
            <a:r>
              <a:rPr lang="en-US" sz="1600" dirty="0" smtClean="0"/>
              <a:t>M</a:t>
            </a:r>
            <a:r>
              <a:rPr lang="en-US" sz="1600" dirty="0"/>
              <a:t>. </a:t>
            </a:r>
            <a:r>
              <a:rPr lang="en-US" sz="1600" dirty="0" err="1"/>
              <a:t>Klaiber</a:t>
            </a:r>
            <a:r>
              <a:rPr lang="en-US" sz="1600" dirty="0"/>
              <a:t>, L. </a:t>
            </a:r>
            <a:r>
              <a:rPr lang="en-US" sz="1600" dirty="0" err="1"/>
              <a:t>Rockstroh</a:t>
            </a:r>
            <a:r>
              <a:rPr lang="en-US" sz="1600" dirty="0"/>
              <a:t>, Z. Wang, Y. </a:t>
            </a:r>
            <a:r>
              <a:rPr lang="en-US" sz="1600" dirty="0" err="1"/>
              <a:t>Baroud</a:t>
            </a:r>
            <a:r>
              <a:rPr lang="en-US" sz="1600" dirty="0"/>
              <a:t>, S. Simon. A </a:t>
            </a:r>
            <a:r>
              <a:rPr lang="en-US" sz="1600" dirty="0" smtClean="0"/>
              <a:t>memory-	efficient parallel single </a:t>
            </a:r>
            <a:r>
              <a:rPr lang="en-US" sz="1600" dirty="0"/>
              <a:t>pass architecture for connected component </a:t>
            </a:r>
            <a:r>
              <a:rPr lang="en-US" sz="1600" dirty="0" smtClean="0"/>
              <a:t>	labeling </a:t>
            </a:r>
            <a:r>
              <a:rPr lang="en-US" sz="1600" dirty="0"/>
              <a:t>of streamed </a:t>
            </a:r>
            <a:r>
              <a:rPr lang="en-US" sz="1600" dirty="0" smtClean="0"/>
              <a:t>images. In </a:t>
            </a:r>
            <a:r>
              <a:rPr lang="en-US" sz="1600" dirty="0"/>
              <a:t>Field-Programmable Technology (FPT), </a:t>
            </a:r>
            <a:r>
              <a:rPr lang="en-US" sz="1600" dirty="0" smtClean="0"/>
              <a:t>	2012 </a:t>
            </a:r>
            <a:r>
              <a:rPr lang="en-US" sz="1600" dirty="0"/>
              <a:t>International Conference on, </a:t>
            </a:r>
            <a:r>
              <a:rPr lang="en-US" sz="1600" dirty="0" smtClean="0"/>
              <a:t>pp. 159–165</a:t>
            </a:r>
            <a:r>
              <a:rPr lang="en-US" sz="1600" dirty="0"/>
              <a:t>. IEEE, 2012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[FGP10] </a:t>
            </a:r>
            <a:r>
              <a:rPr lang="en-US" sz="1600" dirty="0" smtClean="0"/>
              <a:t>	M</a:t>
            </a:r>
            <a:r>
              <a:rPr lang="en-US" sz="1600" dirty="0"/>
              <a:t>. Fujita, I. Ghosh, M. Prasad. Verification techniques for system-level </a:t>
            </a:r>
            <a:r>
              <a:rPr lang="en-US" sz="1600" dirty="0" smtClean="0"/>
              <a:t>	design. Morgan </a:t>
            </a:r>
            <a:r>
              <a:rPr lang="en-US" sz="1600" dirty="0"/>
              <a:t>Kaufmann, 2010</a:t>
            </a:r>
          </a:p>
        </p:txBody>
      </p:sp>
    </p:spTree>
    <p:extLst>
      <p:ext uri="{BB962C8B-B14F-4D97-AF65-F5344CB8AC3E}">
        <p14:creationId xmlns:p14="http://schemas.microsoft.com/office/powerpoint/2010/main" val="244317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- Speed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𝑎𝑣𝑒𝑟𝑎𝑔𝑒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𝑐𝑙𝑜𝑐𝑘𝑠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𝑝𝑖𝑥𝑒𝑙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𝑒𝑥h𝑎𝑢𝑠𝑡𝑖𝑣𝑒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𝐶𝐿𝐾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𝐼𝑀𝐺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𝐼𝑀𝐺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𝐼𝑀𝐺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𝐼𝑀𝐺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/>
                  <a:t>l</a:t>
                </a:r>
                <a:r>
                  <a:rPr lang="en-US" dirty="0" smtClean="0"/>
                  <a:t>esser is better</a:t>
                </a:r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114901508"/>
              </p:ext>
            </p:extLst>
          </p:nvPr>
        </p:nvGraphicFramePr>
        <p:xfrm>
          <a:off x="1524000" y="1714500"/>
          <a:ext cx="6057900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6379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- Speed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𝑎𝑣𝑒𝑟𝑎𝑔𝑒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𝑐𝑙𝑜𝑐𝑘𝑠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𝑝𝑖𝑥𝑒𝑙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𝑒𝑥h𝑎𝑢𝑠𝑡𝑖𝑣𝑒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𝐶𝐿𝐾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𝐼𝑀𝐺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𝐼𝑀𝐺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𝐼𝑀𝐺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𝐼𝑀𝐺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2818311637"/>
              </p:ext>
            </p:extLst>
          </p:nvPr>
        </p:nvGraphicFramePr>
        <p:xfrm>
          <a:off x="1524000" y="1714500"/>
          <a:ext cx="6057900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7469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 of CCL-REF</a:t>
            </a:r>
            <a:endParaRPr lang="en-US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28519"/>
              </p:ext>
            </p:extLst>
          </p:nvPr>
        </p:nvGraphicFramePr>
        <p:xfrm>
          <a:off x="876301" y="1785671"/>
          <a:ext cx="7633773" cy="21872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4480"/>
                <a:gridCol w="1519160"/>
                <a:gridCol w="1345381"/>
                <a:gridCol w="1474026"/>
                <a:gridCol w="1740726"/>
              </a:tblGrid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Max</a:t>
                      </a:r>
                      <a:r>
                        <a:rPr lang="en-US" baseline="0" dirty="0" smtClean="0"/>
                        <a:t> Clock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Register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Logic</a:t>
                      </a:r>
                      <a:r>
                        <a:rPr lang="en-US" baseline="0" dirty="0" smtClean="0"/>
                        <a:t> LUTs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Memory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LUTs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LABELING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31</a:t>
                      </a:r>
                      <a:r>
                        <a:rPr lang="en-US" sz="1800" baseline="0" dirty="0" smtClean="0"/>
                        <a:t>3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LU TABLE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250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BOUNDBOX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330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24</a:t>
                      </a:r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CCL with BOUNDBOX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250</a:t>
                      </a:r>
                      <a:r>
                        <a:rPr lang="en-US" sz="1800" baseline="0" dirty="0" smtClean="0"/>
                        <a:t>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233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569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01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of CMP</a:t>
            </a:r>
            <a:endParaRPr lang="en-US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17260"/>
              </p:ext>
            </p:extLst>
          </p:nvPr>
        </p:nvGraphicFramePr>
        <p:xfrm>
          <a:off x="1549879" y="1785671"/>
          <a:ext cx="6096000" cy="34811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Max</a:t>
                      </a:r>
                      <a:r>
                        <a:rPr lang="en-US" baseline="0" dirty="0" smtClean="0"/>
                        <a:t> Box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Speed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LUTs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8x6</a:t>
                      </a:r>
                      <a:endParaRPr 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291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221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227</a:t>
                      </a:r>
                      <a:r>
                        <a:rPr lang="en-US" baseline="0" dirty="0" smtClean="0"/>
                        <a:t>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1828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9x5</a:t>
                      </a:r>
                      <a:endParaRPr 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15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230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301</a:t>
                      </a:r>
                    </a:p>
                  </a:txBody>
                  <a:tcPr/>
                </a:tc>
              </a:tr>
              <a:tr h="38679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170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2430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6x6</a:t>
                      </a:r>
                      <a:endParaRPr 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289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197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251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750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4x4</a:t>
                      </a:r>
                      <a:endParaRPr lang="en-US" sz="1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343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355 MHz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156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63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 of Verification Architecture</a:t>
            </a:r>
            <a:endParaRPr lang="en-US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507373"/>
              </p:ext>
            </p:extLst>
          </p:nvPr>
        </p:nvGraphicFramePr>
        <p:xfrm>
          <a:off x="1104900" y="1790700"/>
          <a:ext cx="6952227" cy="1933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4480"/>
                <a:gridCol w="1519160"/>
                <a:gridCol w="1345381"/>
                <a:gridCol w="1474026"/>
                <a:gridCol w="1059180"/>
              </a:tblGrid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Max</a:t>
                      </a:r>
                      <a:r>
                        <a:rPr lang="en-US" baseline="0" dirty="0" smtClean="0"/>
                        <a:t> Clock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Register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LUTs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BRAMs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</a:t>
                      </a:r>
                      <a:r>
                        <a:rPr lang="en-US" sz="1800" baseline="0" dirty="0" smtClean="0"/>
                        <a:t> x 4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125</a:t>
                      </a:r>
                      <a:r>
                        <a:rPr lang="en-US" sz="1800" baseline="0" dirty="0" smtClean="0"/>
                        <a:t>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3180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5646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 x 6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125</a:t>
                      </a:r>
                      <a:r>
                        <a:rPr lang="en-US" sz="1800" baseline="0" dirty="0" smtClean="0"/>
                        <a:t>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3649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6680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21 x 2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125</a:t>
                      </a:r>
                      <a:r>
                        <a:rPr lang="en-US" sz="1800" baseline="0" dirty="0" smtClean="0"/>
                        <a:t>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3827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7052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</a:p>
                  </a:txBody>
                  <a:tcPr/>
                </a:tc>
              </a:tr>
              <a:tr h="3867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 x 5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/>
                        <a:t>125</a:t>
                      </a:r>
                      <a:r>
                        <a:rPr lang="en-US" sz="1800" baseline="0" dirty="0" smtClean="0"/>
                        <a:t> MHz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3876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7339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14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</a:t>
            </a:r>
            <a:r>
              <a:rPr lang="en-US" dirty="0" err="1" smtClean="0"/>
              <a:t>Heatmap</a:t>
            </a:r>
            <a:r>
              <a:rPr lang="en-US" dirty="0" smtClean="0"/>
              <a:t> Calculation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/>
              <p:cNvSpPr txBox="1"/>
              <p:nvPr/>
            </p:nvSpPr>
            <p:spPr>
              <a:xfrm>
                <a:off x="571500" y="1210626"/>
                <a:ext cx="2133600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Stimulus: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38412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210626"/>
                <a:ext cx="2133600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2857" t="-9524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/>
          <p:cNvCxnSpPr/>
          <p:nvPr/>
        </p:nvCxnSpPr>
        <p:spPr>
          <a:xfrm flipV="1">
            <a:off x="2705100" y="1402985"/>
            <a:ext cx="381000" cy="5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33839"/>
              </p:ext>
            </p:extLst>
          </p:nvPr>
        </p:nvGraphicFramePr>
        <p:xfrm>
          <a:off x="2895600" y="2247900"/>
          <a:ext cx="1066800" cy="1079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6700"/>
                <a:gridCol w="266700"/>
                <a:gridCol w="266700"/>
                <a:gridCol w="266700"/>
              </a:tblGrid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/>
              <p:cNvSpPr txBox="1"/>
              <p:nvPr/>
            </p:nvSpPr>
            <p:spPr>
              <a:xfrm>
                <a:off x="3093720" y="1210624"/>
                <a:ext cx="2362200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dirty="0"/>
                            <m:t>1001011000001100 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feld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720" y="1210624"/>
                <a:ext cx="2362200" cy="384721"/>
              </a:xfrm>
              <a:prstGeom prst="rect">
                <a:avLst/>
              </a:prstGeom>
              <a:blipFill rotWithShape="0">
                <a:blip r:embed="rId3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/>
          <p:cNvCxnSpPr/>
          <p:nvPr/>
        </p:nvCxnSpPr>
        <p:spPr>
          <a:xfrm flipH="1">
            <a:off x="3276600" y="1595345"/>
            <a:ext cx="419100" cy="5382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/>
              <p:cNvSpPr txBox="1"/>
              <p:nvPr/>
            </p:nvSpPr>
            <p:spPr>
              <a:xfrm>
                <a:off x="4572000" y="2209800"/>
                <a:ext cx="1181100" cy="1184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feld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209800"/>
                <a:ext cx="1181100" cy="1184555"/>
              </a:xfrm>
              <a:prstGeom prst="rect">
                <a:avLst/>
              </a:prstGeom>
              <a:blipFill rotWithShape="0">
                <a:blip r:embed="rId4"/>
                <a:stretch>
                  <a:fillRect r="-4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 Verbindung mit Pfeil 21"/>
          <p:cNvCxnSpPr/>
          <p:nvPr/>
        </p:nvCxnSpPr>
        <p:spPr>
          <a:xfrm>
            <a:off x="4572000" y="1595345"/>
            <a:ext cx="381000" cy="5382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>
          <a:xfrm>
            <a:off x="571500" y="3657600"/>
            <a:ext cx="500489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verification stimuli 1, 2, 3, 5 error occurred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/>
              <p:cNvSpPr txBox="1"/>
              <p:nvPr/>
            </p:nvSpPr>
            <p:spPr>
              <a:xfrm>
                <a:off x="685800" y="4539009"/>
                <a:ext cx="7543800" cy="101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feld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539009"/>
                <a:ext cx="7543800" cy="101207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/>
          <p:cNvCxnSpPr/>
          <p:nvPr/>
        </p:nvCxnSpPr>
        <p:spPr>
          <a:xfrm flipH="1">
            <a:off x="1638300" y="4042321"/>
            <a:ext cx="1257300" cy="4966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/>
          <p:nvPr/>
        </p:nvCxnSpPr>
        <p:spPr>
          <a:xfrm flipH="1">
            <a:off x="3093720" y="4108651"/>
            <a:ext cx="144780" cy="3490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/>
          <p:nvPr/>
        </p:nvCxnSpPr>
        <p:spPr>
          <a:xfrm>
            <a:off x="3543300" y="4042321"/>
            <a:ext cx="495300" cy="4966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/>
          <p:nvPr/>
        </p:nvCxnSpPr>
        <p:spPr>
          <a:xfrm>
            <a:off x="3848100" y="4042321"/>
            <a:ext cx="1607820" cy="4966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el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16518"/>
              </p:ext>
            </p:extLst>
          </p:nvPr>
        </p:nvGraphicFramePr>
        <p:xfrm>
          <a:off x="6858000" y="2781300"/>
          <a:ext cx="1066800" cy="1079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6700"/>
                <a:gridCol w="266700"/>
                <a:gridCol w="266700"/>
                <a:gridCol w="266700"/>
              </a:tblGrid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cxnSp>
        <p:nvCxnSpPr>
          <p:cNvPr id="38" name="Gerade Verbindung mit Pfeil 37"/>
          <p:cNvCxnSpPr/>
          <p:nvPr/>
        </p:nvCxnSpPr>
        <p:spPr>
          <a:xfrm flipV="1">
            <a:off x="7315200" y="4042321"/>
            <a:ext cx="228600" cy="4966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el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01577"/>
              </p:ext>
            </p:extLst>
          </p:nvPr>
        </p:nvGraphicFramePr>
        <p:xfrm>
          <a:off x="8237220" y="2781300"/>
          <a:ext cx="41656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1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</a:t>
            </a:r>
            <a:r>
              <a:rPr lang="de-DE" dirty="0"/>
              <a:t> Design – </a:t>
            </a:r>
            <a:r>
              <a:rPr lang="en-US" dirty="0"/>
              <a:t>Comparator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" name="Textfeld 5"/>
          <p:cNvSpPr txBox="1"/>
          <p:nvPr/>
        </p:nvSpPr>
        <p:spPr>
          <a:xfrm>
            <a:off x="152400" y="2080192"/>
            <a:ext cx="1095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IN_REF</a:t>
            </a:r>
            <a:endParaRPr lang="en-US" sz="1600" dirty="0"/>
          </a:p>
        </p:txBody>
      </p:sp>
      <p:sp>
        <p:nvSpPr>
          <p:cNvPr id="7" name="Textfeld 6"/>
          <p:cNvSpPr txBox="1"/>
          <p:nvPr/>
        </p:nvSpPr>
        <p:spPr>
          <a:xfrm>
            <a:off x="154734" y="4597723"/>
            <a:ext cx="1095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/>
              <a:t>IN_DUT</a:t>
            </a:r>
            <a:endParaRPr lang="en-US" sz="1600" dirty="0"/>
          </a:p>
        </p:txBody>
      </p:sp>
      <p:grpSp>
        <p:nvGrpSpPr>
          <p:cNvPr id="140" name="Gruppieren 139"/>
          <p:cNvGrpSpPr/>
          <p:nvPr/>
        </p:nvGrpSpPr>
        <p:grpSpPr>
          <a:xfrm>
            <a:off x="1251833" y="3962400"/>
            <a:ext cx="6620918" cy="1968040"/>
            <a:chOff x="1302589" y="1260574"/>
            <a:chExt cx="6620918" cy="1968040"/>
          </a:xfrm>
        </p:grpSpPr>
        <p:sp>
          <p:nvSpPr>
            <p:cNvPr id="8" name="Rechteck 7"/>
            <p:cNvSpPr/>
            <p:nvPr/>
          </p:nvSpPr>
          <p:spPr>
            <a:xfrm>
              <a:off x="1768416" y="1395739"/>
              <a:ext cx="819510" cy="257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BOX 1</a:t>
              </a:r>
              <a:endParaRPr lang="en-US" sz="1600" dirty="0"/>
            </a:p>
          </p:txBody>
        </p:sp>
        <p:sp>
          <p:nvSpPr>
            <p:cNvPr id="9" name="Rechteck 8"/>
            <p:cNvSpPr/>
            <p:nvPr/>
          </p:nvSpPr>
          <p:spPr>
            <a:xfrm>
              <a:off x="3571335" y="1395739"/>
              <a:ext cx="819510" cy="257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BOX 2</a:t>
              </a:r>
              <a:endParaRPr lang="en-US" sz="1600" dirty="0"/>
            </a:p>
          </p:txBody>
        </p:sp>
        <p:sp>
          <p:nvSpPr>
            <p:cNvPr id="10" name="Trapezoid 9"/>
            <p:cNvSpPr/>
            <p:nvPr/>
          </p:nvSpPr>
          <p:spPr>
            <a:xfrm rot="5400000">
              <a:off x="2829028" y="1515464"/>
              <a:ext cx="501203" cy="259662"/>
            </a:xfrm>
            <a:prstGeom prst="trapezoi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Gerade Verbindung mit Pfeil 11"/>
            <p:cNvCxnSpPr>
              <a:stCxn id="8" idx="3"/>
            </p:cNvCxnSpPr>
            <p:nvPr/>
          </p:nvCxnSpPr>
          <p:spPr>
            <a:xfrm>
              <a:off x="2587926" y="1524572"/>
              <a:ext cx="3618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hteck 12"/>
            <p:cNvSpPr/>
            <p:nvPr/>
          </p:nvSpPr>
          <p:spPr>
            <a:xfrm>
              <a:off x="6737227" y="1397246"/>
              <a:ext cx="819510" cy="257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BOX n</a:t>
              </a:r>
              <a:endParaRPr lang="en-US" sz="1600" dirty="0"/>
            </a:p>
          </p:txBody>
        </p:sp>
        <p:sp>
          <p:nvSpPr>
            <p:cNvPr id="14" name="Trapezoid 13"/>
            <p:cNvSpPr/>
            <p:nvPr/>
          </p:nvSpPr>
          <p:spPr>
            <a:xfrm rot="5400000">
              <a:off x="4631948" y="1515464"/>
              <a:ext cx="501203" cy="259662"/>
            </a:xfrm>
            <a:prstGeom prst="trapezoi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Gerade Verbindung mit Pfeil 14"/>
            <p:cNvCxnSpPr/>
            <p:nvPr/>
          </p:nvCxnSpPr>
          <p:spPr>
            <a:xfrm>
              <a:off x="4390846" y="1524572"/>
              <a:ext cx="3618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rapezoid 15"/>
            <p:cNvSpPr/>
            <p:nvPr/>
          </p:nvSpPr>
          <p:spPr>
            <a:xfrm rot="5400000">
              <a:off x="5994920" y="1523574"/>
              <a:ext cx="501203" cy="259662"/>
            </a:xfrm>
            <a:prstGeom prst="trapezoi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Gewinkelte Verbindung 17"/>
            <p:cNvCxnSpPr/>
            <p:nvPr/>
          </p:nvCxnSpPr>
          <p:spPr>
            <a:xfrm flipV="1">
              <a:off x="1302589" y="1794294"/>
              <a:ext cx="4813101" cy="291822"/>
            </a:xfrm>
            <a:prstGeom prst="bentConnector3">
              <a:avLst>
                <a:gd name="adj1" fmla="val 96052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winkelte Verbindung 22"/>
            <p:cNvCxnSpPr>
              <a:stCxn id="16" idx="0"/>
              <a:endCxn id="13" idx="1"/>
            </p:cNvCxnSpPr>
            <p:nvPr/>
          </p:nvCxnSpPr>
          <p:spPr>
            <a:xfrm flipV="1">
              <a:off x="6375353" y="1526079"/>
              <a:ext cx="361874" cy="127327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winkelte Verbindung 24"/>
            <p:cNvCxnSpPr>
              <a:stCxn id="10" idx="0"/>
              <a:endCxn id="9" idx="1"/>
            </p:cNvCxnSpPr>
            <p:nvPr/>
          </p:nvCxnSpPr>
          <p:spPr>
            <a:xfrm flipV="1">
              <a:off x="3209461" y="1524572"/>
              <a:ext cx="361874" cy="12072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feld 30"/>
                <p:cNvSpPr txBox="1"/>
                <p:nvPr/>
              </p:nvSpPr>
              <p:spPr>
                <a:xfrm>
                  <a:off x="5365630" y="1814716"/>
                  <a:ext cx="338134" cy="3847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feld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630" y="1814716"/>
                  <a:ext cx="338134" cy="38472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Gewinkelte Verbindung 32"/>
            <p:cNvCxnSpPr/>
            <p:nvPr/>
          </p:nvCxnSpPr>
          <p:spPr>
            <a:xfrm flipV="1">
              <a:off x="2366963" y="1782238"/>
              <a:ext cx="580897" cy="297335"/>
            </a:xfrm>
            <a:prstGeom prst="bentConnector3">
              <a:avLst>
                <a:gd name="adj1" fmla="val -284"/>
              </a:avLst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winkelte Verbindung 35"/>
            <p:cNvCxnSpPr/>
            <p:nvPr/>
          </p:nvCxnSpPr>
          <p:spPr>
            <a:xfrm flipV="1">
              <a:off x="4032526" y="1794296"/>
              <a:ext cx="720191" cy="285277"/>
            </a:xfrm>
            <a:prstGeom prst="bentConnector3">
              <a:avLst>
                <a:gd name="adj1" fmla="val -257"/>
              </a:avLst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winkelte Verbindung 42"/>
            <p:cNvCxnSpPr>
              <a:stCxn id="14" idx="0"/>
            </p:cNvCxnSpPr>
            <p:nvPr/>
          </p:nvCxnSpPr>
          <p:spPr>
            <a:xfrm flipV="1">
              <a:off x="5012381" y="1524572"/>
              <a:ext cx="1103309" cy="120724"/>
            </a:xfrm>
            <a:prstGeom prst="bentConnector3">
              <a:avLst>
                <a:gd name="adj1" fmla="val 19507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feld 44"/>
                <p:cNvSpPr txBox="1"/>
                <p:nvPr/>
              </p:nvSpPr>
              <p:spPr>
                <a:xfrm>
                  <a:off x="5365630" y="1260574"/>
                  <a:ext cx="338134" cy="3847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feld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630" y="1260574"/>
                  <a:ext cx="338134" cy="38472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Gleichschenkliges Dreieck 54"/>
            <p:cNvSpPr/>
            <p:nvPr/>
          </p:nvSpPr>
          <p:spPr>
            <a:xfrm rot="5400000">
              <a:off x="2506463" y="2354876"/>
              <a:ext cx="330178" cy="267419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Gewinkelte Verbindung 58"/>
            <p:cNvCxnSpPr>
              <a:stCxn id="8" idx="2"/>
              <a:endCxn id="77" idx="1"/>
            </p:cNvCxnSpPr>
            <p:nvPr/>
          </p:nvCxnSpPr>
          <p:spPr>
            <a:xfrm rot="16200000" flipH="1">
              <a:off x="1896439" y="1935136"/>
              <a:ext cx="920328" cy="356865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winkelte Verbindung 65"/>
            <p:cNvCxnSpPr>
              <a:endCxn id="8" idx="1"/>
            </p:cNvCxnSpPr>
            <p:nvPr/>
          </p:nvCxnSpPr>
          <p:spPr>
            <a:xfrm rot="5400000" flipH="1" flipV="1">
              <a:off x="1349658" y="1660815"/>
              <a:ext cx="555001" cy="282516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/>
            <p:cNvSpPr txBox="1"/>
            <p:nvPr/>
          </p:nvSpPr>
          <p:spPr>
            <a:xfrm>
              <a:off x="2535036" y="2481735"/>
              <a:ext cx="176339" cy="1839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endParaRPr lang="en-US" dirty="0"/>
            </a:p>
          </p:txBody>
        </p:sp>
        <p:sp>
          <p:nvSpPr>
            <p:cNvPr id="78" name="Textfeld 77"/>
            <p:cNvSpPr txBox="1"/>
            <p:nvPr/>
          </p:nvSpPr>
          <p:spPr>
            <a:xfrm>
              <a:off x="2530685" y="2292851"/>
              <a:ext cx="176339" cy="1839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endParaRPr lang="en-US" dirty="0"/>
            </a:p>
          </p:txBody>
        </p:sp>
        <p:cxnSp>
          <p:nvCxnSpPr>
            <p:cNvPr id="81" name="Gewinkelte Verbindung 80"/>
            <p:cNvCxnSpPr>
              <a:endCxn id="78" idx="1"/>
            </p:cNvCxnSpPr>
            <p:nvPr/>
          </p:nvCxnSpPr>
          <p:spPr>
            <a:xfrm rot="16200000" flipH="1">
              <a:off x="2301633" y="2155796"/>
              <a:ext cx="298733" cy="15937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Gleichschenkliges Dreieck 82"/>
            <p:cNvSpPr/>
            <p:nvPr/>
          </p:nvSpPr>
          <p:spPr>
            <a:xfrm rot="5400000">
              <a:off x="4242978" y="2348025"/>
              <a:ext cx="330178" cy="267419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feld 83"/>
            <p:cNvSpPr txBox="1"/>
            <p:nvPr/>
          </p:nvSpPr>
          <p:spPr>
            <a:xfrm>
              <a:off x="4271551" y="2474884"/>
              <a:ext cx="176339" cy="1839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endParaRPr lang="en-US" dirty="0"/>
            </a:p>
          </p:txBody>
        </p:sp>
        <p:sp>
          <p:nvSpPr>
            <p:cNvPr id="85" name="Textfeld 84"/>
            <p:cNvSpPr txBox="1"/>
            <p:nvPr/>
          </p:nvSpPr>
          <p:spPr>
            <a:xfrm>
              <a:off x="4267200" y="2286000"/>
              <a:ext cx="176339" cy="1839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endParaRPr lang="en-US" dirty="0"/>
            </a:p>
          </p:txBody>
        </p:sp>
        <p:sp>
          <p:nvSpPr>
            <p:cNvPr id="86" name="Gleichschenkliges Dreieck 85"/>
            <p:cNvSpPr/>
            <p:nvPr/>
          </p:nvSpPr>
          <p:spPr>
            <a:xfrm rot="5400000">
              <a:off x="7257939" y="2348025"/>
              <a:ext cx="330178" cy="267419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feld 86"/>
            <p:cNvSpPr txBox="1"/>
            <p:nvPr/>
          </p:nvSpPr>
          <p:spPr>
            <a:xfrm>
              <a:off x="7286512" y="2474884"/>
              <a:ext cx="176339" cy="1839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endParaRPr lang="en-US" dirty="0"/>
            </a:p>
          </p:txBody>
        </p:sp>
        <p:sp>
          <p:nvSpPr>
            <p:cNvPr id="88" name="Textfeld 87"/>
            <p:cNvSpPr txBox="1"/>
            <p:nvPr/>
          </p:nvSpPr>
          <p:spPr>
            <a:xfrm>
              <a:off x="7282161" y="2286000"/>
              <a:ext cx="176339" cy="1839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endParaRPr lang="en-US" dirty="0"/>
            </a:p>
          </p:txBody>
        </p:sp>
        <p:cxnSp>
          <p:nvCxnSpPr>
            <p:cNvPr id="90" name="Gewinkelte Verbindung 89"/>
            <p:cNvCxnSpPr>
              <a:endCxn id="85" idx="1"/>
            </p:cNvCxnSpPr>
            <p:nvPr/>
          </p:nvCxnSpPr>
          <p:spPr>
            <a:xfrm rot="16200000" flipH="1">
              <a:off x="4012859" y="2123657"/>
              <a:ext cx="267856" cy="240825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winkelte Verbindung 92"/>
            <p:cNvCxnSpPr>
              <a:endCxn id="84" idx="1"/>
            </p:cNvCxnSpPr>
            <p:nvPr/>
          </p:nvCxnSpPr>
          <p:spPr>
            <a:xfrm rot="16200000" flipH="1">
              <a:off x="3602675" y="1898006"/>
              <a:ext cx="906826" cy="43092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winkelte Verbindung 94"/>
            <p:cNvCxnSpPr>
              <a:endCxn id="87" idx="1"/>
            </p:cNvCxnSpPr>
            <p:nvPr/>
          </p:nvCxnSpPr>
          <p:spPr>
            <a:xfrm>
              <a:off x="5921780" y="2086116"/>
              <a:ext cx="1364732" cy="480766"/>
            </a:xfrm>
            <a:prstGeom prst="bentConnector3">
              <a:avLst/>
            </a:prstGeom>
            <a:ln w="19050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winkelte Verbindung 96"/>
            <p:cNvCxnSpPr>
              <a:stCxn id="13" idx="2"/>
              <a:endCxn id="88" idx="1"/>
            </p:cNvCxnSpPr>
            <p:nvPr/>
          </p:nvCxnSpPr>
          <p:spPr>
            <a:xfrm rot="16200000" flipH="1">
              <a:off x="6853028" y="1948865"/>
              <a:ext cx="723086" cy="13517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hteck 101"/>
            <p:cNvSpPr/>
            <p:nvPr/>
          </p:nvSpPr>
          <p:spPr>
            <a:xfrm>
              <a:off x="1370307" y="2843893"/>
              <a:ext cx="6553200" cy="3847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dirty="0" smtClean="0"/>
                <a:t>SHIFT-SELECTOR</a:t>
              </a:r>
              <a:endParaRPr lang="en-US" dirty="0"/>
            </a:p>
          </p:txBody>
        </p:sp>
        <p:cxnSp>
          <p:nvCxnSpPr>
            <p:cNvPr id="104" name="Gewinkelte Verbindung 103"/>
            <p:cNvCxnSpPr>
              <a:stCxn id="86" idx="0"/>
            </p:cNvCxnSpPr>
            <p:nvPr/>
          </p:nvCxnSpPr>
          <p:spPr>
            <a:xfrm>
              <a:off x="7556738" y="2481735"/>
              <a:ext cx="139462" cy="36215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winkelte Verbindung 105"/>
            <p:cNvCxnSpPr>
              <a:stCxn id="83" idx="0"/>
              <a:endCxn id="102" idx="0"/>
            </p:cNvCxnSpPr>
            <p:nvPr/>
          </p:nvCxnSpPr>
          <p:spPr>
            <a:xfrm>
              <a:off x="4541777" y="2481735"/>
              <a:ext cx="105130" cy="36215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winkelte Verbindung 107"/>
            <p:cNvCxnSpPr>
              <a:stCxn id="55" idx="0"/>
            </p:cNvCxnSpPr>
            <p:nvPr/>
          </p:nvCxnSpPr>
          <p:spPr>
            <a:xfrm>
              <a:off x="2805262" y="2488586"/>
              <a:ext cx="60115" cy="34325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 Verbindung mit Pfeil 109"/>
            <p:cNvCxnSpPr/>
            <p:nvPr/>
          </p:nvCxnSpPr>
          <p:spPr>
            <a:xfrm flipV="1">
              <a:off x="1981200" y="1660054"/>
              <a:ext cx="0" cy="11904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/>
            <p:cNvCxnSpPr/>
            <p:nvPr/>
          </p:nvCxnSpPr>
          <p:spPr>
            <a:xfrm flipV="1">
              <a:off x="3657600" y="1645295"/>
              <a:ext cx="0" cy="11904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/>
            <p:cNvCxnSpPr/>
            <p:nvPr/>
          </p:nvCxnSpPr>
          <p:spPr>
            <a:xfrm flipV="1">
              <a:off x="6934200" y="1653403"/>
              <a:ext cx="0" cy="11904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 Verbindung mit Pfeil 113"/>
            <p:cNvCxnSpPr>
              <a:endCxn id="16" idx="3"/>
            </p:cNvCxnSpPr>
            <p:nvPr/>
          </p:nvCxnSpPr>
          <p:spPr>
            <a:xfrm flipH="1" flipV="1">
              <a:off x="6245522" y="1871549"/>
              <a:ext cx="17089" cy="9723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 Verbindung mit Pfeil 129"/>
            <p:cNvCxnSpPr/>
            <p:nvPr/>
          </p:nvCxnSpPr>
          <p:spPr>
            <a:xfrm flipH="1" flipV="1">
              <a:off x="4880346" y="1878200"/>
              <a:ext cx="5155" cy="9723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/>
            <p:cNvCxnSpPr/>
            <p:nvPr/>
          </p:nvCxnSpPr>
          <p:spPr>
            <a:xfrm flipV="1">
              <a:off x="3083040" y="1865522"/>
              <a:ext cx="1" cy="9850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Rechteck 141"/>
          <p:cNvSpPr/>
          <p:nvPr/>
        </p:nvSpPr>
        <p:spPr>
          <a:xfrm>
            <a:off x="1717660" y="2692164"/>
            <a:ext cx="819510" cy="25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BOX 1</a:t>
            </a:r>
            <a:endParaRPr lang="en-US" sz="1600" dirty="0"/>
          </a:p>
        </p:txBody>
      </p:sp>
      <p:sp>
        <p:nvSpPr>
          <p:cNvPr id="143" name="Rechteck 142"/>
          <p:cNvSpPr/>
          <p:nvPr/>
        </p:nvSpPr>
        <p:spPr>
          <a:xfrm>
            <a:off x="3520579" y="2692164"/>
            <a:ext cx="819510" cy="25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BOX 2</a:t>
            </a:r>
            <a:endParaRPr lang="en-US" sz="1600" dirty="0"/>
          </a:p>
        </p:txBody>
      </p:sp>
      <p:sp>
        <p:nvSpPr>
          <p:cNvPr id="144" name="Trapezoid 143"/>
          <p:cNvSpPr/>
          <p:nvPr/>
        </p:nvSpPr>
        <p:spPr>
          <a:xfrm rot="16200000" flipV="1">
            <a:off x="2778272" y="2570443"/>
            <a:ext cx="501203" cy="259662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Gerade Verbindung mit Pfeil 144"/>
          <p:cNvCxnSpPr>
            <a:stCxn id="142" idx="3"/>
          </p:cNvCxnSpPr>
          <p:nvPr/>
        </p:nvCxnSpPr>
        <p:spPr>
          <a:xfrm>
            <a:off x="2537170" y="2820997"/>
            <a:ext cx="3618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hteck 145"/>
          <p:cNvSpPr/>
          <p:nvPr/>
        </p:nvSpPr>
        <p:spPr>
          <a:xfrm>
            <a:off x="6686471" y="2690657"/>
            <a:ext cx="819510" cy="257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BOX n</a:t>
            </a:r>
            <a:endParaRPr lang="en-US" sz="1600" dirty="0"/>
          </a:p>
        </p:txBody>
      </p:sp>
      <p:sp>
        <p:nvSpPr>
          <p:cNvPr id="147" name="Trapezoid 146"/>
          <p:cNvSpPr/>
          <p:nvPr/>
        </p:nvSpPr>
        <p:spPr>
          <a:xfrm rot="16200000" flipV="1">
            <a:off x="4581192" y="2570443"/>
            <a:ext cx="501203" cy="259662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Gerade Verbindung mit Pfeil 147"/>
          <p:cNvCxnSpPr/>
          <p:nvPr/>
        </p:nvCxnSpPr>
        <p:spPr>
          <a:xfrm flipV="1">
            <a:off x="4340090" y="2820997"/>
            <a:ext cx="3618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rapezoid 148"/>
          <p:cNvSpPr/>
          <p:nvPr/>
        </p:nvSpPr>
        <p:spPr>
          <a:xfrm rot="16200000" flipV="1">
            <a:off x="5944164" y="2562333"/>
            <a:ext cx="501203" cy="259662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Gewinkelte Verbindung 149"/>
          <p:cNvCxnSpPr/>
          <p:nvPr/>
        </p:nvCxnSpPr>
        <p:spPr>
          <a:xfrm>
            <a:off x="1251833" y="2259453"/>
            <a:ext cx="4813101" cy="291822"/>
          </a:xfrm>
          <a:prstGeom prst="bentConnector3">
            <a:avLst>
              <a:gd name="adj1" fmla="val 9605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Gewinkelte Verbindung 150"/>
          <p:cNvCxnSpPr>
            <a:stCxn id="149" idx="0"/>
            <a:endCxn id="146" idx="1"/>
          </p:cNvCxnSpPr>
          <p:nvPr/>
        </p:nvCxnSpPr>
        <p:spPr>
          <a:xfrm>
            <a:off x="6324597" y="2692164"/>
            <a:ext cx="361874" cy="12732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Gewinkelte Verbindung 151"/>
          <p:cNvCxnSpPr>
            <a:stCxn id="144" idx="0"/>
            <a:endCxn id="143" idx="1"/>
          </p:cNvCxnSpPr>
          <p:nvPr/>
        </p:nvCxnSpPr>
        <p:spPr>
          <a:xfrm>
            <a:off x="3158705" y="2700274"/>
            <a:ext cx="361874" cy="120723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feld 152"/>
              <p:cNvSpPr txBox="1"/>
              <p:nvPr/>
            </p:nvSpPr>
            <p:spPr>
              <a:xfrm flipV="1">
                <a:off x="5314874" y="2146132"/>
                <a:ext cx="338134" cy="3847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" name="Textfeld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V="1">
                <a:off x="5314874" y="2146132"/>
                <a:ext cx="338134" cy="3847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Gewinkelte Verbindung 153"/>
          <p:cNvCxnSpPr/>
          <p:nvPr/>
        </p:nvCxnSpPr>
        <p:spPr>
          <a:xfrm>
            <a:off x="2316207" y="2265996"/>
            <a:ext cx="580897" cy="297335"/>
          </a:xfrm>
          <a:prstGeom prst="bentConnector3">
            <a:avLst>
              <a:gd name="adj1" fmla="val -284"/>
            </a:avLst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ewinkelte Verbindung 154"/>
          <p:cNvCxnSpPr/>
          <p:nvPr/>
        </p:nvCxnSpPr>
        <p:spPr>
          <a:xfrm>
            <a:off x="3981770" y="2265996"/>
            <a:ext cx="720191" cy="285277"/>
          </a:xfrm>
          <a:prstGeom prst="bentConnector3">
            <a:avLst>
              <a:gd name="adj1" fmla="val -257"/>
            </a:avLst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winkelte Verbindung 155"/>
          <p:cNvCxnSpPr>
            <a:stCxn id="147" idx="0"/>
          </p:cNvCxnSpPr>
          <p:nvPr/>
        </p:nvCxnSpPr>
        <p:spPr>
          <a:xfrm>
            <a:off x="4961625" y="2700273"/>
            <a:ext cx="1103309" cy="120724"/>
          </a:xfrm>
          <a:prstGeom prst="bentConnector3">
            <a:avLst>
              <a:gd name="adj1" fmla="val 1950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feld 156"/>
              <p:cNvSpPr txBox="1"/>
              <p:nvPr/>
            </p:nvSpPr>
            <p:spPr>
              <a:xfrm flipV="1">
                <a:off x="5314874" y="2700274"/>
                <a:ext cx="338134" cy="3847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feld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V="1">
                <a:off x="5314874" y="2700274"/>
                <a:ext cx="338134" cy="3847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Gleichschenkliges Dreieck 157"/>
          <p:cNvSpPr/>
          <p:nvPr/>
        </p:nvSpPr>
        <p:spPr>
          <a:xfrm rot="16200000" flipV="1">
            <a:off x="2455707" y="1723274"/>
            <a:ext cx="330178" cy="2674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" name="Gewinkelte Verbindung 158"/>
          <p:cNvCxnSpPr>
            <a:stCxn id="142" idx="0"/>
            <a:endCxn id="161" idx="1"/>
          </p:cNvCxnSpPr>
          <p:nvPr/>
        </p:nvCxnSpPr>
        <p:spPr>
          <a:xfrm rot="5400000" flipH="1" flipV="1">
            <a:off x="1845683" y="2053568"/>
            <a:ext cx="920328" cy="35686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Gewinkelte Verbindung 159"/>
          <p:cNvCxnSpPr>
            <a:endCxn id="142" idx="1"/>
          </p:cNvCxnSpPr>
          <p:nvPr/>
        </p:nvCxnSpPr>
        <p:spPr>
          <a:xfrm rot="16200000" flipH="1">
            <a:off x="1298901" y="2402238"/>
            <a:ext cx="555002" cy="282515"/>
          </a:xfrm>
          <a:prstGeom prst="bentConnector2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feld 160"/>
          <p:cNvSpPr txBox="1"/>
          <p:nvPr/>
        </p:nvSpPr>
        <p:spPr>
          <a:xfrm flipV="1">
            <a:off x="2484280" y="1679839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62" name="Textfeld 161"/>
          <p:cNvSpPr txBox="1"/>
          <p:nvPr/>
        </p:nvSpPr>
        <p:spPr>
          <a:xfrm flipV="1">
            <a:off x="2479929" y="1868723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cxnSp>
        <p:nvCxnSpPr>
          <p:cNvPr id="163" name="Gewinkelte Verbindung 162"/>
          <p:cNvCxnSpPr>
            <a:endCxn id="162" idx="1"/>
          </p:cNvCxnSpPr>
          <p:nvPr/>
        </p:nvCxnSpPr>
        <p:spPr>
          <a:xfrm rot="5400000" flipH="1" flipV="1">
            <a:off x="2250877" y="2030402"/>
            <a:ext cx="298733" cy="15937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Gleichschenkliges Dreieck 163"/>
          <p:cNvSpPr/>
          <p:nvPr/>
        </p:nvSpPr>
        <p:spPr>
          <a:xfrm rot="16200000" flipV="1">
            <a:off x="4192222" y="1730125"/>
            <a:ext cx="330178" cy="2674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feld 164"/>
          <p:cNvSpPr txBox="1"/>
          <p:nvPr/>
        </p:nvSpPr>
        <p:spPr>
          <a:xfrm flipV="1">
            <a:off x="4220795" y="1686690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66" name="Textfeld 165"/>
          <p:cNvSpPr txBox="1"/>
          <p:nvPr/>
        </p:nvSpPr>
        <p:spPr>
          <a:xfrm flipV="1">
            <a:off x="4216444" y="1875574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67" name="Gleichschenkliges Dreieck 166"/>
          <p:cNvSpPr/>
          <p:nvPr/>
        </p:nvSpPr>
        <p:spPr>
          <a:xfrm rot="16200000" flipV="1">
            <a:off x="7207183" y="1730125"/>
            <a:ext cx="330178" cy="2674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feld 167"/>
          <p:cNvSpPr txBox="1"/>
          <p:nvPr/>
        </p:nvSpPr>
        <p:spPr>
          <a:xfrm flipV="1">
            <a:off x="7235756" y="1686690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69" name="Textfeld 168"/>
          <p:cNvSpPr txBox="1"/>
          <p:nvPr/>
        </p:nvSpPr>
        <p:spPr>
          <a:xfrm flipV="1">
            <a:off x="7231405" y="1875574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cxnSp>
        <p:nvCxnSpPr>
          <p:cNvPr id="170" name="Gewinkelte Verbindung 169"/>
          <p:cNvCxnSpPr>
            <a:endCxn id="166" idx="1"/>
          </p:cNvCxnSpPr>
          <p:nvPr/>
        </p:nvCxnSpPr>
        <p:spPr>
          <a:xfrm rot="5400000" flipH="1" flipV="1">
            <a:off x="3962103" y="1981087"/>
            <a:ext cx="267856" cy="24082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winkelte Verbindung 170"/>
          <p:cNvCxnSpPr>
            <a:endCxn id="165" idx="1"/>
          </p:cNvCxnSpPr>
          <p:nvPr/>
        </p:nvCxnSpPr>
        <p:spPr>
          <a:xfrm rot="5400000" flipH="1" flipV="1">
            <a:off x="3551919" y="2016637"/>
            <a:ext cx="906826" cy="4309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winkelte Verbindung 171"/>
          <p:cNvCxnSpPr>
            <a:endCxn id="168" idx="1"/>
          </p:cNvCxnSpPr>
          <p:nvPr/>
        </p:nvCxnSpPr>
        <p:spPr>
          <a:xfrm flipV="1">
            <a:off x="5871024" y="1778687"/>
            <a:ext cx="1364732" cy="480766"/>
          </a:xfrm>
          <a:prstGeom prst="bentConnector3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winkelte Verbindung 172"/>
          <p:cNvCxnSpPr>
            <a:stCxn id="146" idx="0"/>
            <a:endCxn id="169" idx="1"/>
          </p:cNvCxnSpPr>
          <p:nvPr/>
        </p:nvCxnSpPr>
        <p:spPr>
          <a:xfrm rot="5400000" flipH="1" flipV="1">
            <a:off x="6802272" y="2261525"/>
            <a:ext cx="723086" cy="1351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hteck 173"/>
          <p:cNvSpPr/>
          <p:nvPr/>
        </p:nvSpPr>
        <p:spPr>
          <a:xfrm>
            <a:off x="1319551" y="1116955"/>
            <a:ext cx="6553200" cy="3847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 smtClean="0"/>
              <a:t>SHIFT-SELECTOR</a:t>
            </a:r>
            <a:endParaRPr lang="en-US" dirty="0"/>
          </a:p>
        </p:txBody>
      </p:sp>
      <p:cxnSp>
        <p:nvCxnSpPr>
          <p:cNvPr id="175" name="Gewinkelte Verbindung 174"/>
          <p:cNvCxnSpPr>
            <a:stCxn id="167" idx="0"/>
          </p:cNvCxnSpPr>
          <p:nvPr/>
        </p:nvCxnSpPr>
        <p:spPr>
          <a:xfrm flipV="1">
            <a:off x="7505982" y="1501676"/>
            <a:ext cx="139462" cy="36215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winkelte Verbindung 175"/>
          <p:cNvCxnSpPr>
            <a:stCxn id="164" idx="0"/>
            <a:endCxn id="174" idx="2"/>
          </p:cNvCxnSpPr>
          <p:nvPr/>
        </p:nvCxnSpPr>
        <p:spPr>
          <a:xfrm flipV="1">
            <a:off x="4491021" y="1501676"/>
            <a:ext cx="105130" cy="36215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Gewinkelte Verbindung 176"/>
          <p:cNvCxnSpPr>
            <a:stCxn id="158" idx="0"/>
          </p:cNvCxnSpPr>
          <p:nvPr/>
        </p:nvCxnSpPr>
        <p:spPr>
          <a:xfrm flipV="1">
            <a:off x="2754506" y="1513731"/>
            <a:ext cx="60115" cy="34325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/>
          <p:cNvCxnSpPr/>
          <p:nvPr/>
        </p:nvCxnSpPr>
        <p:spPr>
          <a:xfrm>
            <a:off x="1930444" y="1495025"/>
            <a:ext cx="0" cy="11904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/>
          <p:cNvCxnSpPr/>
          <p:nvPr/>
        </p:nvCxnSpPr>
        <p:spPr>
          <a:xfrm>
            <a:off x="3606844" y="1509784"/>
            <a:ext cx="0" cy="11904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mit Pfeil 179"/>
          <p:cNvCxnSpPr/>
          <p:nvPr/>
        </p:nvCxnSpPr>
        <p:spPr>
          <a:xfrm>
            <a:off x="6883444" y="1501676"/>
            <a:ext cx="0" cy="11904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mit Pfeil 180"/>
          <p:cNvCxnSpPr>
            <a:endCxn id="149" idx="3"/>
          </p:cNvCxnSpPr>
          <p:nvPr/>
        </p:nvCxnSpPr>
        <p:spPr>
          <a:xfrm flipH="1">
            <a:off x="6194766" y="1501676"/>
            <a:ext cx="17089" cy="9723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mit Pfeil 181"/>
          <p:cNvCxnSpPr/>
          <p:nvPr/>
        </p:nvCxnSpPr>
        <p:spPr>
          <a:xfrm flipH="1">
            <a:off x="4829590" y="1495025"/>
            <a:ext cx="5155" cy="9723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/>
          <p:cNvCxnSpPr/>
          <p:nvPr/>
        </p:nvCxnSpPr>
        <p:spPr>
          <a:xfrm>
            <a:off x="3032284" y="1495025"/>
            <a:ext cx="1" cy="9850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Gleichschenkliges Dreieck 189"/>
          <p:cNvSpPr/>
          <p:nvPr/>
        </p:nvSpPr>
        <p:spPr>
          <a:xfrm rot="16200000" flipV="1">
            <a:off x="2178022" y="3621678"/>
            <a:ext cx="330178" cy="2674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feld 190"/>
          <p:cNvSpPr txBox="1"/>
          <p:nvPr/>
        </p:nvSpPr>
        <p:spPr>
          <a:xfrm flipV="1">
            <a:off x="2206595" y="3578243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92" name="Textfeld 191"/>
          <p:cNvSpPr txBox="1"/>
          <p:nvPr/>
        </p:nvSpPr>
        <p:spPr>
          <a:xfrm flipV="1">
            <a:off x="2202244" y="3767127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93" name="Gleichschenkliges Dreieck 192"/>
          <p:cNvSpPr/>
          <p:nvPr/>
        </p:nvSpPr>
        <p:spPr>
          <a:xfrm rot="16200000" flipV="1">
            <a:off x="3795771" y="3116162"/>
            <a:ext cx="330178" cy="2674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feld 193"/>
          <p:cNvSpPr txBox="1"/>
          <p:nvPr/>
        </p:nvSpPr>
        <p:spPr>
          <a:xfrm flipV="1">
            <a:off x="3824344" y="3072727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95" name="Textfeld 194"/>
          <p:cNvSpPr txBox="1"/>
          <p:nvPr/>
        </p:nvSpPr>
        <p:spPr>
          <a:xfrm flipV="1">
            <a:off x="3819993" y="3261611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196" name="Rechteck 195"/>
          <p:cNvSpPr/>
          <p:nvPr/>
        </p:nvSpPr>
        <p:spPr>
          <a:xfrm>
            <a:off x="7493044" y="3084782"/>
            <a:ext cx="865121" cy="835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ERR-GEN</a:t>
            </a:r>
            <a:endParaRPr lang="en-US" dirty="0"/>
          </a:p>
        </p:txBody>
      </p:sp>
      <p:cxnSp>
        <p:nvCxnSpPr>
          <p:cNvPr id="199" name="Gerade Verbindung mit Pfeil 198"/>
          <p:cNvCxnSpPr>
            <a:stCxn id="193" idx="0"/>
          </p:cNvCxnSpPr>
          <p:nvPr/>
        </p:nvCxnSpPr>
        <p:spPr>
          <a:xfrm>
            <a:off x="4094570" y="3249872"/>
            <a:ext cx="3398474" cy="68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Gerade Verbindung mit Pfeil 200"/>
          <p:cNvCxnSpPr>
            <a:stCxn id="190" idx="0"/>
          </p:cNvCxnSpPr>
          <p:nvPr/>
        </p:nvCxnSpPr>
        <p:spPr>
          <a:xfrm>
            <a:off x="2476821" y="3755388"/>
            <a:ext cx="5016223" cy="68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Gerade Verbindung mit Pfeil 202"/>
          <p:cNvCxnSpPr>
            <a:endCxn id="196" idx="1"/>
          </p:cNvCxnSpPr>
          <p:nvPr/>
        </p:nvCxnSpPr>
        <p:spPr>
          <a:xfrm flipV="1">
            <a:off x="7292653" y="3502630"/>
            <a:ext cx="200391" cy="7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Gewinkelte Verbindung 204"/>
          <p:cNvCxnSpPr>
            <a:endCxn id="207" idx="1"/>
          </p:cNvCxnSpPr>
          <p:nvPr/>
        </p:nvCxnSpPr>
        <p:spPr>
          <a:xfrm rot="16200000" flipH="1">
            <a:off x="6712255" y="3121020"/>
            <a:ext cx="471340" cy="12896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Gleichschenkliges Dreieck 205"/>
          <p:cNvSpPr/>
          <p:nvPr/>
        </p:nvSpPr>
        <p:spPr>
          <a:xfrm rot="16200000" flipV="1">
            <a:off x="6983833" y="3372609"/>
            <a:ext cx="330178" cy="26741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feld 206"/>
          <p:cNvSpPr txBox="1"/>
          <p:nvPr/>
        </p:nvSpPr>
        <p:spPr>
          <a:xfrm flipV="1">
            <a:off x="7012406" y="3329174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sp>
        <p:nvSpPr>
          <p:cNvPr id="208" name="Textfeld 207"/>
          <p:cNvSpPr txBox="1"/>
          <p:nvPr/>
        </p:nvSpPr>
        <p:spPr>
          <a:xfrm flipV="1">
            <a:off x="7008055" y="3518058"/>
            <a:ext cx="176339" cy="1839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dirty="0"/>
          </a:p>
        </p:txBody>
      </p:sp>
      <p:cxnSp>
        <p:nvCxnSpPr>
          <p:cNvPr id="211" name="Gewinkelte Verbindung 210"/>
          <p:cNvCxnSpPr>
            <a:endCxn id="208" idx="1"/>
          </p:cNvCxnSpPr>
          <p:nvPr/>
        </p:nvCxnSpPr>
        <p:spPr>
          <a:xfrm rot="5400000" flipH="1" flipV="1">
            <a:off x="6702517" y="3790982"/>
            <a:ext cx="486464" cy="1246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Gewinkelte Verbindung 212"/>
          <p:cNvCxnSpPr>
            <a:endCxn id="194" idx="1"/>
          </p:cNvCxnSpPr>
          <p:nvPr/>
        </p:nvCxnSpPr>
        <p:spPr>
          <a:xfrm rot="16200000" flipH="1">
            <a:off x="3659707" y="3000087"/>
            <a:ext cx="214894" cy="1143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winkelte Verbindung 214"/>
          <p:cNvCxnSpPr>
            <a:endCxn id="195" idx="1"/>
          </p:cNvCxnSpPr>
          <p:nvPr/>
        </p:nvCxnSpPr>
        <p:spPr>
          <a:xfrm rot="5400000" flipH="1" flipV="1">
            <a:off x="3392384" y="3672892"/>
            <a:ext cx="746893" cy="1083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Gewinkelte Verbindung 218"/>
          <p:cNvCxnSpPr>
            <a:endCxn id="191" idx="1"/>
          </p:cNvCxnSpPr>
          <p:nvPr/>
        </p:nvCxnSpPr>
        <p:spPr>
          <a:xfrm rot="16200000" flipH="1">
            <a:off x="1708314" y="3171958"/>
            <a:ext cx="720411" cy="27615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Gewinkelte Verbindung 220"/>
          <p:cNvCxnSpPr>
            <a:endCxn id="192" idx="1"/>
          </p:cNvCxnSpPr>
          <p:nvPr/>
        </p:nvCxnSpPr>
        <p:spPr>
          <a:xfrm flipV="1">
            <a:off x="1917001" y="3859124"/>
            <a:ext cx="285243" cy="239269"/>
          </a:xfrm>
          <a:prstGeom prst="bentConnector3">
            <a:avLst>
              <a:gd name="adj1" fmla="val -8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Gerade Verbindung mit Pfeil 223"/>
          <p:cNvCxnSpPr>
            <a:stCxn id="196" idx="3"/>
          </p:cNvCxnSpPr>
          <p:nvPr/>
        </p:nvCxnSpPr>
        <p:spPr>
          <a:xfrm>
            <a:off x="8358165" y="3502630"/>
            <a:ext cx="457200" cy="10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13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pas_template</Template>
  <TotalTime>0</TotalTime>
  <Words>1870</Words>
  <Application>Microsoft Office PowerPoint</Application>
  <PresentationFormat>Bildschirmpräsentation (4:3)</PresentationFormat>
  <Paragraphs>614</Paragraphs>
  <Slides>34</Slides>
  <Notes>27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39" baseType="lpstr">
      <vt:lpstr>Arial</vt:lpstr>
      <vt:lpstr>Cambria Math</vt:lpstr>
      <vt:lpstr>Consolas</vt:lpstr>
      <vt:lpstr>Times New Roman</vt:lpstr>
      <vt:lpstr>Standarddesign</vt:lpstr>
      <vt:lpstr>Implementation and Hardware Accelerated Verification of a Connected Component Labeling Architecture</vt:lpstr>
      <vt:lpstr>Outline</vt:lpstr>
      <vt:lpstr>Motivation</vt:lpstr>
      <vt:lpstr>Goals</vt:lpstr>
      <vt:lpstr>Connected Component Labeling</vt:lpstr>
      <vt:lpstr>Connected Component Labeling</vt:lpstr>
      <vt:lpstr>Proposed Design – CCL REF</vt:lpstr>
      <vt:lpstr>Proposed Design – CCL-DUT</vt:lpstr>
      <vt:lpstr>Proposed Design – Comparator</vt:lpstr>
      <vt:lpstr>Proposed Design – Comparator 2</vt:lpstr>
      <vt:lpstr>Proposed Design – Verifier Architecture</vt:lpstr>
      <vt:lpstr>Verification Architecture - Speedup</vt:lpstr>
      <vt:lpstr>Verification Architecture – Speedup 2</vt:lpstr>
      <vt:lpstr>Verification Architecture – Speedup 2</vt:lpstr>
      <vt:lpstr>Software - Verifier</vt:lpstr>
      <vt:lpstr>Software – Error Inspector</vt:lpstr>
      <vt:lpstr>Software – Error Heatmap</vt:lpstr>
      <vt:lpstr>Results Speed</vt:lpstr>
      <vt:lpstr>Results Speed – Parallel Instances</vt:lpstr>
      <vt:lpstr>Results Speed - Runtime</vt:lpstr>
      <vt:lpstr>Results</vt:lpstr>
      <vt:lpstr>Results</vt:lpstr>
      <vt:lpstr>Result – Non exhaustive test</vt:lpstr>
      <vt:lpstr>Conclusion</vt:lpstr>
      <vt:lpstr>Future Work Recommandation</vt:lpstr>
      <vt:lpstr>Questions/Demo</vt:lpstr>
      <vt:lpstr>PowerPoint-Präsentation</vt:lpstr>
      <vt:lpstr>Result - Speed</vt:lpstr>
      <vt:lpstr>Result - Speed</vt:lpstr>
      <vt:lpstr>Size of CCL-REF</vt:lpstr>
      <vt:lpstr>Comparison of CMP</vt:lpstr>
      <vt:lpstr>Size of Verification Architecture</vt:lpstr>
      <vt:lpstr>Error Heatmap Calculation</vt:lpstr>
      <vt:lpstr>Proposed Design – Comparator 3</vt:lpstr>
    </vt:vector>
  </TitlesOfParts>
  <Company>Hochschule Bremen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and Hardware Accelerated Verification of a Connected Component Labeling Architecture</dc:title>
  <dc:creator>B Benjamin</dc:creator>
  <cp:lastModifiedBy>B Benjamin</cp:lastModifiedBy>
  <cp:revision>278</cp:revision>
  <dcterms:created xsi:type="dcterms:W3CDTF">2014-03-07T08:28:01Z</dcterms:created>
  <dcterms:modified xsi:type="dcterms:W3CDTF">2014-03-17T21:06:57Z</dcterms:modified>
</cp:coreProperties>
</file>